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25"/>
  </p:notesMasterIdLst>
  <p:sldIdLst>
    <p:sldId id="302" r:id="rId2"/>
    <p:sldId id="304" r:id="rId3"/>
    <p:sldId id="354" r:id="rId4"/>
    <p:sldId id="358" r:id="rId5"/>
    <p:sldId id="359" r:id="rId6"/>
    <p:sldId id="360" r:id="rId7"/>
    <p:sldId id="355" r:id="rId8"/>
    <p:sldId id="361" r:id="rId9"/>
    <p:sldId id="362" r:id="rId10"/>
    <p:sldId id="364" r:id="rId11"/>
    <p:sldId id="363" r:id="rId12"/>
    <p:sldId id="367" r:id="rId13"/>
    <p:sldId id="365" r:id="rId14"/>
    <p:sldId id="356" r:id="rId15"/>
    <p:sldId id="366" r:id="rId16"/>
    <p:sldId id="369" r:id="rId17"/>
    <p:sldId id="370" r:id="rId18"/>
    <p:sldId id="371" r:id="rId19"/>
    <p:sldId id="372" r:id="rId20"/>
    <p:sldId id="368" r:id="rId21"/>
    <p:sldId id="357" r:id="rId22"/>
    <p:sldId id="373" r:id="rId23"/>
    <p:sldId id="374" r:id="rId24"/>
  </p:sldIdLst>
  <p:sldSz cx="9144000" cy="5143500" type="screen16x9"/>
  <p:notesSz cx="6858000" cy="91440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FE2FD"/>
    <a:srgbClr val="FF6600"/>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527" autoAdjust="0"/>
  </p:normalViewPr>
  <p:slideViewPr>
    <p:cSldViewPr showGuides="1">
      <p:cViewPr varScale="1">
        <p:scale>
          <a:sx n="194" d="100"/>
          <a:sy n="194" d="100"/>
        </p:scale>
        <p:origin x="328" y="156"/>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5409B33-29EB-EEE4-2A17-A37B149DAF32}"/>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a:extLst>
              <a:ext uri="{FF2B5EF4-FFF2-40B4-BE49-F238E27FC236}">
                <a16:creationId xmlns:a16="http://schemas.microsoft.com/office/drawing/2014/main" id="{2EFC9CA6-C27B-0551-165C-5582FE35EB34}"/>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1F064486-F19B-4547-96B2-4D7DA4F80143}" type="datetimeFigureOut">
              <a:rPr lang="zh-CN" altLang="en-US"/>
              <a:pPr>
                <a:defRPr/>
              </a:pPr>
              <a:t>2025/11/4</a:t>
            </a:fld>
            <a:endParaRPr lang="zh-CN" altLang="en-US"/>
          </a:p>
        </p:txBody>
      </p:sp>
      <p:sp>
        <p:nvSpPr>
          <p:cNvPr id="4" name="幻灯片图像占位符 3">
            <a:extLst>
              <a:ext uri="{FF2B5EF4-FFF2-40B4-BE49-F238E27FC236}">
                <a16:creationId xmlns:a16="http://schemas.microsoft.com/office/drawing/2014/main" id="{E4F703F0-8362-DFD7-4B51-A80F6B55A4A0}"/>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0A19E482-21EE-1280-1862-E5547AE74BB6}"/>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AD6B88C3-6508-E0C9-8F72-71F44E7FB251}"/>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灯片编号占位符 6">
            <a:extLst>
              <a:ext uri="{FF2B5EF4-FFF2-40B4-BE49-F238E27FC236}">
                <a16:creationId xmlns:a16="http://schemas.microsoft.com/office/drawing/2014/main" id="{9B199ADA-44A9-82EA-B7E6-B9E89A4868F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EA8FDBE6-CC8F-44E8-966C-C01B1B110F03}"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AB211E74-91C2-566D-045B-63BA2C8EA90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6D19176-F392-4AEC-9C6D-4E5D809A85AA}" type="slidenum">
              <a:rPr lang="en-US" altLang="zh-CN">
                <a:solidFill>
                  <a:srgbClr val="000000"/>
                </a:solidFill>
              </a:rPr>
              <a:pPr/>
              <a:t>1</a:t>
            </a:fld>
            <a:endParaRPr lang="en-US" altLang="zh-CN">
              <a:solidFill>
                <a:srgbClr val="000000"/>
              </a:solidFill>
            </a:endParaRPr>
          </a:p>
        </p:txBody>
      </p:sp>
      <p:sp>
        <p:nvSpPr>
          <p:cNvPr id="5123" name="Rectangle 2">
            <a:extLst>
              <a:ext uri="{FF2B5EF4-FFF2-40B4-BE49-F238E27FC236}">
                <a16:creationId xmlns:a16="http://schemas.microsoft.com/office/drawing/2014/main" id="{FF69E2F4-FE9A-8EE2-C902-97E6E2F3D30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4" name="Rectangle 3">
            <a:extLst>
              <a:ext uri="{FF2B5EF4-FFF2-40B4-BE49-F238E27FC236}">
                <a16:creationId xmlns:a16="http://schemas.microsoft.com/office/drawing/2014/main" id="{BF501095-3CD0-F2C8-C989-2483E02560E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a:latin typeface="Times New Roman" panose="02020603050405020304" pitchFamily="18" charset="0"/>
                <a:ea typeface="华文楷体" panose="02010600040101010101" pitchFamily="2" charset="-122"/>
                <a:cs typeface="Times New Roman" panose="02020603050405020304" pitchFamily="18" charset="0"/>
              </a:rPr>
              <a:t>直线电机一级倒立摆系统如图所示，</a:t>
            </a:r>
            <a:r>
              <a:rPr lang="zh-CN" altLang="zh-CN" sz="1200" kern="1200" dirty="0">
                <a:solidFill>
                  <a:schemeClr val="tx1"/>
                </a:solidFill>
                <a:effectLst/>
                <a:latin typeface="+mn-lt"/>
                <a:ea typeface="+mn-ea"/>
                <a:cs typeface="+mn-cs"/>
              </a:rPr>
              <a:t>主要组件包括：直线电机平台（带直线光栅）、 一级倒立摆组件（带角度编码器），</a:t>
            </a:r>
            <a:r>
              <a:rPr lang="en-US" altLang="zh-CN" sz="1200" kern="1200" dirty="0">
                <a:solidFill>
                  <a:schemeClr val="tx1"/>
                </a:solidFill>
                <a:effectLst/>
                <a:latin typeface="+mn-lt"/>
                <a:ea typeface="+mn-ea"/>
                <a:cs typeface="+mn-cs"/>
              </a:rPr>
              <a:t>DSP</a:t>
            </a:r>
            <a:r>
              <a:rPr lang="zh-CN" altLang="zh-CN" sz="1200" kern="1200" dirty="0">
                <a:solidFill>
                  <a:schemeClr val="tx1"/>
                </a:solidFill>
                <a:effectLst/>
                <a:latin typeface="+mn-lt"/>
                <a:ea typeface="+mn-ea"/>
                <a:cs typeface="+mn-cs"/>
              </a:rPr>
              <a:t>运动控制卡、一级倒立摆</a:t>
            </a:r>
            <a:r>
              <a:rPr lang="en-US" altLang="zh-CN" sz="1200" kern="1200" dirty="0">
                <a:solidFill>
                  <a:schemeClr val="tx1"/>
                </a:solidFill>
                <a:effectLst/>
                <a:latin typeface="+mn-lt"/>
                <a:ea typeface="+mn-ea"/>
                <a:cs typeface="+mn-cs"/>
              </a:rPr>
              <a:t>DSP</a:t>
            </a:r>
            <a:r>
              <a:rPr lang="zh-CN" altLang="zh-CN" sz="1200" kern="1200" dirty="0">
                <a:solidFill>
                  <a:schemeClr val="tx1"/>
                </a:solidFill>
                <a:effectLst/>
                <a:latin typeface="+mn-lt"/>
                <a:ea typeface="+mn-ea"/>
                <a:cs typeface="+mn-cs"/>
              </a:rPr>
              <a:t>控制软件</a:t>
            </a:r>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对于直线电机一级倒立摆系统，为了达到控制目标，一般通过相应的传感器采集到电机的位置信号、摆杆的角度信号并将其传递到控制系统中，通过算法处理输出控制量给电机驱动器，驱动滑块左右移动使得摆杆稳定。同时，控制系统与人机交互软件进行通讯，将所需观测的变量传递到软件中进行显示和存储。相关系统原理图如图所示。</a:t>
            </a:r>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软件模块主要包括：变量模块、系统配置模块、命令下载模块、状态显示模块、状态上传模块以及运动控制模块。</a:t>
            </a:r>
            <a:br>
              <a:rPr lang="en-US" altLang="zh-CN" sz="1200" kern="1200" dirty="0">
                <a:solidFill>
                  <a:schemeClr val="tx1"/>
                </a:solidFill>
                <a:effectLst/>
                <a:latin typeface="+mn-lt"/>
                <a:ea typeface="+mn-ea"/>
                <a:cs typeface="+mn-cs"/>
              </a:rPr>
            </a:br>
            <a:r>
              <a:rPr lang="en-US" altLang="zh-CN" sz="1200" kern="1200" dirty="0" err="1">
                <a:solidFill>
                  <a:schemeClr val="tx1"/>
                </a:solidFill>
                <a:effectLst/>
                <a:latin typeface="+mn-lt"/>
                <a:ea typeface="+mn-ea"/>
                <a:cs typeface="+mn-cs"/>
              </a:rPr>
              <a:t>Stateflow</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Simulink</a:t>
            </a:r>
            <a:r>
              <a:rPr lang="zh-CN" altLang="zh-CN" sz="1200" kern="1200" dirty="0">
                <a:solidFill>
                  <a:schemeClr val="tx1"/>
                </a:solidFill>
                <a:effectLst/>
                <a:latin typeface="+mn-lt"/>
                <a:ea typeface="+mn-ea"/>
                <a:cs typeface="+mn-cs"/>
              </a:rPr>
              <a:t>的一个重要工具箱，主要是指使用状态机与流程图对系统逻辑进行建模和仿真。在某些情况下使用</a:t>
            </a:r>
            <a:r>
              <a:rPr lang="en-US" altLang="zh-CN" sz="1200" kern="1200" dirty="0" err="1">
                <a:solidFill>
                  <a:schemeClr val="tx1"/>
                </a:solidFill>
                <a:effectLst/>
                <a:latin typeface="+mn-lt"/>
                <a:ea typeface="+mn-ea"/>
                <a:cs typeface="+mn-cs"/>
              </a:rPr>
              <a:t>Stateflow</a:t>
            </a:r>
            <a:r>
              <a:rPr lang="zh-CN" altLang="zh-CN" sz="1200" kern="1200" dirty="0">
                <a:solidFill>
                  <a:schemeClr val="tx1"/>
                </a:solidFill>
                <a:effectLst/>
                <a:latin typeface="+mn-lt"/>
                <a:ea typeface="+mn-ea"/>
                <a:cs typeface="+mn-cs"/>
              </a:rPr>
              <a:t>建模能大大优化模型结构，简化建模工作量。</a:t>
            </a:r>
            <a:br>
              <a:rPr lang="en-US" altLang="zh-CN" sz="1200" kern="1200" dirty="0">
                <a:solidFill>
                  <a:schemeClr val="tx1"/>
                </a:solidFill>
                <a:effectLst/>
                <a:latin typeface="+mn-lt"/>
                <a:ea typeface="+mn-ea"/>
                <a:cs typeface="+mn-cs"/>
              </a:rPr>
            </a:br>
            <a:r>
              <a:rPr lang="zh-CN" altLang="zh-CN" sz="1200" kern="1200" dirty="0">
                <a:solidFill>
                  <a:schemeClr val="tx1"/>
                </a:solidFill>
                <a:effectLst/>
                <a:latin typeface="+mn-lt"/>
                <a:ea typeface="+mn-ea"/>
                <a:cs typeface="+mn-cs"/>
              </a:rPr>
              <a:t>图中的每个方框表示状态（如空闲状态、启动状态和运行状态等），状态与状态之间的连线表示切换条件（</a:t>
            </a:r>
            <a:r>
              <a:rPr lang="en-US" altLang="zh-CN" sz="1200" kern="1200" dirty="0">
                <a:solidFill>
                  <a:schemeClr val="tx1"/>
                </a:solidFill>
                <a:effectLst/>
                <a:latin typeface="+mn-lt"/>
                <a:ea typeface="+mn-ea"/>
                <a:cs typeface="+mn-cs"/>
              </a:rPr>
              <a:t>Status</a:t>
            </a:r>
            <a:r>
              <a:rPr lang="zh-CN" altLang="zh-CN" sz="1200" kern="1200" dirty="0">
                <a:solidFill>
                  <a:schemeClr val="tx1"/>
                </a:solidFill>
                <a:effectLst/>
                <a:latin typeface="+mn-lt"/>
                <a:ea typeface="+mn-ea"/>
                <a:cs typeface="+mn-cs"/>
              </a:rPr>
              <a:t>变量达到某种条件后，进入下个状态）。左侧的</a:t>
            </a:r>
            <a:r>
              <a:rPr lang="en-US" altLang="zh-CN" sz="1200" kern="1200" dirty="0">
                <a:solidFill>
                  <a:schemeClr val="tx1"/>
                </a:solidFill>
                <a:effectLst/>
                <a:latin typeface="+mn-lt"/>
                <a:ea typeface="+mn-ea"/>
                <a:cs typeface="+mn-cs"/>
              </a:rPr>
              <a:t>Simulink Function</a:t>
            </a:r>
            <a:r>
              <a:rPr lang="zh-CN" altLang="zh-CN" sz="1200" kern="1200" dirty="0">
                <a:solidFill>
                  <a:schemeClr val="tx1"/>
                </a:solidFill>
                <a:effectLst/>
                <a:latin typeface="+mn-lt"/>
                <a:ea typeface="+mn-ea"/>
                <a:cs typeface="+mn-cs"/>
              </a:rPr>
              <a:t>表示每个状态内的处理程序（处理接收到的</a:t>
            </a:r>
            <a:r>
              <a:rPr lang="en-US" altLang="zh-CN" sz="1200" kern="1200" dirty="0">
                <a:solidFill>
                  <a:schemeClr val="tx1"/>
                </a:solidFill>
                <a:effectLst/>
                <a:latin typeface="+mn-lt"/>
                <a:ea typeface="+mn-ea"/>
                <a:cs typeface="+mn-cs"/>
              </a:rPr>
              <a:t>Command</a:t>
            </a:r>
            <a:r>
              <a:rPr lang="zh-CN" altLang="zh-CN" sz="1200" kern="1200" dirty="0">
                <a:solidFill>
                  <a:schemeClr val="tx1"/>
                </a:solidFill>
                <a:effectLst/>
                <a:latin typeface="+mn-lt"/>
                <a:ea typeface="+mn-ea"/>
                <a:cs typeface="+mn-cs"/>
              </a:rPr>
              <a:t>和</a:t>
            </a:r>
            <a:r>
              <a:rPr lang="en-US" altLang="zh-CN" sz="1200" kern="1200" dirty="0" err="1">
                <a:solidFill>
                  <a:schemeClr val="tx1"/>
                </a:solidFill>
                <a:effectLst/>
                <a:latin typeface="+mn-lt"/>
                <a:ea typeface="+mn-ea"/>
                <a:cs typeface="+mn-cs"/>
              </a:rPr>
              <a:t>CommandData</a:t>
            </a:r>
            <a:r>
              <a:rPr lang="zh-CN" altLang="zh-CN" sz="1200" kern="1200" dirty="0">
                <a:solidFill>
                  <a:schemeClr val="tx1"/>
                </a:solidFill>
                <a:effectLst/>
                <a:latin typeface="+mn-lt"/>
                <a:ea typeface="+mn-ea"/>
                <a:cs typeface="+mn-cs"/>
              </a:rPr>
              <a:t>，处理结果输出给</a:t>
            </a:r>
            <a:r>
              <a:rPr lang="en-US" altLang="zh-CN" sz="1200" kern="1200" dirty="0">
                <a:solidFill>
                  <a:schemeClr val="tx1"/>
                </a:solidFill>
                <a:effectLst/>
                <a:latin typeface="+mn-lt"/>
                <a:ea typeface="+mn-ea"/>
                <a:cs typeface="+mn-cs"/>
              </a:rPr>
              <a:t>Status</a:t>
            </a:r>
            <a:r>
              <a:rPr lang="zh-CN" altLang="zh-CN" sz="1200" kern="1200" dirty="0">
                <a:solidFill>
                  <a:schemeClr val="tx1"/>
                </a:solidFill>
                <a:effectLst/>
                <a:latin typeface="+mn-lt"/>
                <a:ea typeface="+mn-ea"/>
                <a:cs typeface="+mn-cs"/>
              </a:rPr>
              <a:t>变量）。</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zh-CN"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zh-CN"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EA8FDBE6-CC8F-44E8-966C-C01B1B110F03}" type="slidenum">
              <a:rPr lang="zh-CN" altLang="en-US" smtClean="0"/>
              <a:pPr/>
              <a:t>2</a:t>
            </a:fld>
            <a:endParaRPr lang="zh-CN" altLang="en-US"/>
          </a:p>
        </p:txBody>
      </p:sp>
    </p:spTree>
    <p:extLst>
      <p:ext uri="{BB962C8B-B14F-4D97-AF65-F5344CB8AC3E}">
        <p14:creationId xmlns:p14="http://schemas.microsoft.com/office/powerpoint/2010/main" val="1366782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做以下假设：（</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）摆杆和小车为刚体；（</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）忽略空气阻力和摆杆与小车轴承的摩擦力；（</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）图示箭头所示方向为矢量正方向。</a:t>
            </a:r>
            <a:r>
              <a:rPr lang="zh-CN" altLang="en-US" sz="1200" kern="1200" dirty="0">
                <a:solidFill>
                  <a:schemeClr val="tx1"/>
                </a:solidFill>
                <a:effectLst/>
                <a:latin typeface="+mn-lt"/>
                <a:ea typeface="+mn-ea"/>
                <a:cs typeface="+mn-cs"/>
              </a:rPr>
              <a:t>然后结合一点理论力学的知识，就可以推导出顺摆和倒摆的模型</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A8FDBE6-CC8F-44E8-966C-C01B1B110F03}" type="slidenum">
              <a:rPr lang="zh-CN" altLang="en-US" smtClean="0"/>
              <a:pPr/>
              <a:t>4</a:t>
            </a:fld>
            <a:endParaRPr lang="zh-CN" altLang="en-US"/>
          </a:p>
        </p:txBody>
      </p:sp>
    </p:spTree>
    <p:extLst>
      <p:ext uri="{BB962C8B-B14F-4D97-AF65-F5344CB8AC3E}">
        <p14:creationId xmlns:p14="http://schemas.microsoft.com/office/powerpoint/2010/main" val="2685745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倒立摆线性化的前提条件是什么？</a:t>
            </a:r>
          </a:p>
          <a:p>
            <a:r>
              <a:rPr lang="zh-CN" altLang="en-US" dirty="0"/>
              <a:t>倒立摆系统的线性化是基于小角度近似的前提条件进行的。当摆杆偏角</a:t>
            </a:r>
            <a:r>
              <a:rPr lang="en-US" altLang="zh-CN" dirty="0"/>
              <a:t>θ</a:t>
            </a:r>
            <a:r>
              <a:rPr lang="zh-CN" altLang="en-US" dirty="0"/>
              <a:t>较小时，可以采用</a:t>
            </a:r>
            <a:r>
              <a:rPr lang="en-US" altLang="zh-CN" dirty="0" err="1"/>
              <a:t>sin⁡θ≈θ</a:t>
            </a:r>
            <a:r>
              <a:rPr lang="zh-CN" altLang="en-US" dirty="0"/>
              <a:t>、</a:t>
            </a:r>
            <a:r>
              <a:rPr lang="en-US" altLang="zh-CN" dirty="0"/>
              <a:t>cos⁡θ≈1</a:t>
            </a:r>
            <a:r>
              <a:rPr lang="zh-CN" altLang="en-US" dirty="0"/>
              <a:t>、</a:t>
            </a:r>
            <a:r>
              <a:rPr lang="en-US" altLang="zh-CN" dirty="0"/>
              <a:t>θ ̇^2≈0</a:t>
            </a:r>
            <a:r>
              <a:rPr lang="zh-CN" altLang="en-US" dirty="0"/>
              <a:t>的近似关系，从而将系统的非线性方程简化为线性模型。这种线性化假设使得系统分析与控制器设计更加简便，但仅在摆角较小、系统处于平衡点附近时成立。</a:t>
            </a:r>
          </a:p>
          <a:p>
            <a:r>
              <a:rPr lang="en-US" altLang="zh-CN" dirty="0"/>
              <a:t>2.</a:t>
            </a:r>
            <a:r>
              <a:rPr lang="zh-CN" altLang="en-US" dirty="0"/>
              <a:t>为使得倒立摆、顺摆满足线性化要求，输入方波需满足什么条件？</a:t>
            </a:r>
          </a:p>
          <a:p>
            <a:r>
              <a:rPr lang="zh-CN" altLang="en-US" dirty="0"/>
              <a:t>为了使顺摆或倒立摆系统在实验中满足线性化条件，输入方波信号需经过合理设计。首先，方波的幅值应较小，以确保摆角变化维持在小范围内，系统响应不超出线性区；其次，方波频率要适中，其周期应为系统主振荡周期的</a:t>
            </a:r>
            <a:r>
              <a:rPr lang="en-US" altLang="zh-CN" dirty="0"/>
              <a:t>2</a:t>
            </a:r>
            <a:r>
              <a:rPr lang="zh-CN" altLang="en-US" dirty="0"/>
              <a:t>～</a:t>
            </a:r>
            <a:r>
              <a:rPr lang="en-US" altLang="zh-CN" dirty="0"/>
              <a:t>3</a:t>
            </a:r>
            <a:r>
              <a:rPr lang="zh-CN" altLang="en-US" dirty="0"/>
              <a:t>倍，以避免激励过强引起非线性共振；同时，方波应上下对称且均值为零，以防稳态偏移造成重心漂移；最后，方波的持续时间不宜过长，应仅用于短时扰动，以防系统远离平衡位置而破坏线性化假设。</a:t>
            </a:r>
          </a:p>
          <a:p>
            <a:endParaRPr lang="zh-CN" altLang="en-US" dirty="0"/>
          </a:p>
        </p:txBody>
      </p:sp>
      <p:sp>
        <p:nvSpPr>
          <p:cNvPr id="4" name="灯片编号占位符 3"/>
          <p:cNvSpPr>
            <a:spLocks noGrp="1"/>
          </p:cNvSpPr>
          <p:nvPr>
            <p:ph type="sldNum" sz="quarter" idx="5"/>
          </p:nvPr>
        </p:nvSpPr>
        <p:spPr/>
        <p:txBody>
          <a:bodyPr/>
          <a:lstStyle/>
          <a:p>
            <a:fld id="{EA8FDBE6-CC8F-44E8-966C-C01B1B110F03}" type="slidenum">
              <a:rPr lang="zh-CN" altLang="en-US" smtClean="0"/>
              <a:pPr/>
              <a:t>6</a:t>
            </a:fld>
            <a:endParaRPr lang="zh-CN" altLang="en-US"/>
          </a:p>
        </p:txBody>
      </p:sp>
    </p:spTree>
    <p:extLst>
      <p:ext uri="{BB962C8B-B14F-4D97-AF65-F5344CB8AC3E}">
        <p14:creationId xmlns:p14="http://schemas.microsoft.com/office/powerpoint/2010/main" val="460178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685800" y="742950"/>
            <a:ext cx="7772400" cy="1028700"/>
          </a:xfrm>
        </p:spPr>
        <p:txBody>
          <a:bodyPr/>
          <a:lstStyle>
            <a:lvl1pPr>
              <a:defRPr sz="3000"/>
            </a:lvl1pPr>
          </a:lstStyle>
          <a:p>
            <a:pPr lvl="0"/>
            <a:r>
              <a:rPr lang="en-US" altLang="zh-CN" noProof="0"/>
              <a:t>Click to edit Master title style</a:t>
            </a:r>
          </a:p>
        </p:txBody>
      </p:sp>
      <p:sp>
        <p:nvSpPr>
          <p:cNvPr id="8195" name="Rectangle 3"/>
          <p:cNvSpPr>
            <a:spLocks noGrp="1" noChangeArrowheads="1"/>
          </p:cNvSpPr>
          <p:nvPr>
            <p:ph type="subTitle" idx="1"/>
          </p:nvPr>
        </p:nvSpPr>
        <p:spPr>
          <a:xfrm>
            <a:off x="1447800" y="2571750"/>
            <a:ext cx="7010400" cy="1200150"/>
          </a:xfrm>
        </p:spPr>
        <p:txBody>
          <a:bodyPr/>
          <a:lstStyle>
            <a:lvl1pPr marL="0" indent="0">
              <a:buFont typeface="Wingdings" charset="0"/>
              <a:buNone/>
              <a:defRPr sz="2100"/>
            </a:lvl1pPr>
          </a:lstStyle>
          <a:p>
            <a:pPr lvl="0"/>
            <a:r>
              <a:rPr lang="en-US" altLang="zh-CN" noProof="0"/>
              <a:t>Click to edit Master subtitle style</a:t>
            </a:r>
          </a:p>
        </p:txBody>
      </p:sp>
      <p:sp>
        <p:nvSpPr>
          <p:cNvPr id="2" name="Rectangle 4">
            <a:extLst>
              <a:ext uri="{FF2B5EF4-FFF2-40B4-BE49-F238E27FC236}">
                <a16:creationId xmlns:a16="http://schemas.microsoft.com/office/drawing/2014/main" id="{C3614AE0-E5F6-D2FF-1765-7C431A1146A7}"/>
              </a:ext>
            </a:extLst>
          </p:cNvPr>
          <p:cNvSpPr>
            <a:spLocks noGrp="1" noChangeArrowheads="1"/>
          </p:cNvSpPr>
          <p:nvPr>
            <p:ph type="dt" sz="half" idx="10"/>
          </p:nvPr>
        </p:nvSpPr>
        <p:spPr bwMode="auto">
          <a:xfrm>
            <a:off x="685800" y="4686300"/>
            <a:ext cx="1905000" cy="342900"/>
          </a:xfrm>
          <a:prstGeom prst="rect">
            <a:avLst/>
          </a:prstGeom>
        </p:spPr>
        <p:txBody>
          <a:bodyPr vert="horz" wrap="square" lIns="91440" tIns="45720" rIns="91440" bIns="45720" numCol="1" anchor="t" anchorCtr="0" compatLnSpc="1">
            <a:prstTxWarp prst="textNoShape">
              <a:avLst/>
            </a:prstTxWarp>
          </a:bodyPr>
          <a:lstStyle>
            <a:lvl1pPr eaLnBrk="1" hangingPunct="1">
              <a:defRPr sz="900">
                <a:latin typeface="Verdana" charset="0"/>
                <a:ea typeface="宋体" charset="0"/>
                <a:cs typeface="宋体" charset="0"/>
              </a:defRPr>
            </a:lvl1pPr>
          </a:lstStyle>
          <a:p>
            <a:pPr>
              <a:defRPr/>
            </a:pPr>
            <a:endParaRPr lang="en-US" altLang="zh-CN"/>
          </a:p>
        </p:txBody>
      </p:sp>
      <p:sp>
        <p:nvSpPr>
          <p:cNvPr id="3" name="Rectangle 5">
            <a:extLst>
              <a:ext uri="{FF2B5EF4-FFF2-40B4-BE49-F238E27FC236}">
                <a16:creationId xmlns:a16="http://schemas.microsoft.com/office/drawing/2014/main" id="{45BFE5CB-034D-E550-4657-EC80EF3993A5}"/>
              </a:ext>
            </a:extLst>
          </p:cNvPr>
          <p:cNvSpPr>
            <a:spLocks noGrp="1" noChangeArrowheads="1"/>
          </p:cNvSpPr>
          <p:nvPr>
            <p:ph type="ftr" sz="quarter" idx="11"/>
          </p:nvPr>
        </p:nvSpPr>
        <p:spPr bwMode="auto">
          <a:xfrm>
            <a:off x="3124200" y="4686300"/>
            <a:ext cx="28956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sz="900">
                <a:latin typeface="Verdana" charset="0"/>
                <a:ea typeface="宋体" charset="0"/>
                <a:cs typeface="宋体" charset="0"/>
              </a:defRPr>
            </a:lvl1pPr>
          </a:lstStyle>
          <a:p>
            <a:pPr>
              <a:defRPr/>
            </a:pPr>
            <a:endParaRPr lang="en-US" altLang="zh-CN"/>
          </a:p>
        </p:txBody>
      </p:sp>
      <p:sp>
        <p:nvSpPr>
          <p:cNvPr id="4" name="Rectangle 6">
            <a:extLst>
              <a:ext uri="{FF2B5EF4-FFF2-40B4-BE49-F238E27FC236}">
                <a16:creationId xmlns:a16="http://schemas.microsoft.com/office/drawing/2014/main" id="{3CD636C0-E458-C397-D75D-1C3505C73758}"/>
              </a:ext>
            </a:extLst>
          </p:cNvPr>
          <p:cNvSpPr>
            <a:spLocks noGrp="1" noChangeArrowheads="1"/>
          </p:cNvSpPr>
          <p:nvPr>
            <p:ph type="sldNum" sz="quarter" idx="12"/>
          </p:nvPr>
        </p:nvSpPr>
        <p:spPr bwMode="auto">
          <a:xfrm>
            <a:off x="6553200" y="4686300"/>
            <a:ext cx="1905000" cy="3429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900"/>
            </a:lvl1pPr>
          </a:lstStyle>
          <a:p>
            <a:fld id="{24AF0DC6-D83F-4BCC-889E-61E590E56D93}" type="slidenum">
              <a:rPr lang="zh-CN" altLang="en-US"/>
              <a:pPr/>
              <a:t>‹#›</a:t>
            </a:fld>
            <a:endParaRPr lang="en-US" altLang="zh-CN"/>
          </a:p>
        </p:txBody>
      </p:sp>
    </p:spTree>
    <p:extLst>
      <p:ext uri="{BB962C8B-B14F-4D97-AF65-F5344CB8AC3E}">
        <p14:creationId xmlns:p14="http://schemas.microsoft.com/office/powerpoint/2010/main" val="2901427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865806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Tree>
    <p:extLst>
      <p:ext uri="{BB962C8B-B14F-4D97-AF65-F5344CB8AC3E}">
        <p14:creationId xmlns:p14="http://schemas.microsoft.com/office/powerpoint/2010/main" val="2346469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914400"/>
            <a:ext cx="39243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3438" y="914400"/>
            <a:ext cx="39243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565362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43454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237842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1898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Tree>
    <p:extLst>
      <p:ext uri="{BB962C8B-B14F-4D97-AF65-F5344CB8AC3E}">
        <p14:creationId xmlns:p14="http://schemas.microsoft.com/office/powerpoint/2010/main" val="3802528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Tree>
    <p:extLst>
      <p:ext uri="{BB962C8B-B14F-4D97-AF65-F5344CB8AC3E}">
        <p14:creationId xmlns:p14="http://schemas.microsoft.com/office/powerpoint/2010/main" val="276142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本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428356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9" y="114300"/>
            <a:ext cx="2001837" cy="4914900"/>
          </a:xfrm>
        </p:spPr>
        <p:txBody>
          <a:bodyPr vert="eaVert"/>
          <a:lstStyle/>
          <a:p>
            <a:r>
              <a:rPr lang="zh-CN" altLang="en-US"/>
              <a:t>单击此处编辑母版标题样式</a:t>
            </a:r>
          </a:p>
        </p:txBody>
      </p:sp>
      <p:sp>
        <p:nvSpPr>
          <p:cNvPr id="3" name="竖排文本占位符 2"/>
          <p:cNvSpPr>
            <a:spLocks noGrp="1"/>
          </p:cNvSpPr>
          <p:nvPr>
            <p:ph type="body" orient="vert" idx="1"/>
          </p:nvPr>
        </p:nvSpPr>
        <p:spPr>
          <a:xfrm>
            <a:off x="566738" y="114300"/>
            <a:ext cx="5854700" cy="49149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537550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114300"/>
            <a:ext cx="8001000" cy="628650"/>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914400"/>
            <a:ext cx="39243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3438" y="914400"/>
            <a:ext cx="39243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0812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8174FA8-3E3C-3083-F6A1-83A29CEF0660}"/>
              </a:ext>
            </a:extLst>
          </p:cNvPr>
          <p:cNvSpPr>
            <a:spLocks noGrp="1" noChangeArrowheads="1"/>
          </p:cNvSpPr>
          <p:nvPr>
            <p:ph type="title"/>
          </p:nvPr>
        </p:nvSpPr>
        <p:spPr bwMode="auto">
          <a:xfrm>
            <a:off x="574675" y="-19050"/>
            <a:ext cx="80010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27" name="Rectangle 3">
            <a:extLst>
              <a:ext uri="{FF2B5EF4-FFF2-40B4-BE49-F238E27FC236}">
                <a16:creationId xmlns:a16="http://schemas.microsoft.com/office/drawing/2014/main" id="{A02AE1D5-AC67-EE29-6880-AF7690503B73}"/>
              </a:ext>
            </a:extLst>
          </p:cNvPr>
          <p:cNvSpPr>
            <a:spLocks noGrp="1" noChangeArrowheads="1"/>
          </p:cNvSpPr>
          <p:nvPr>
            <p:ph type="body" idx="1"/>
          </p:nvPr>
        </p:nvSpPr>
        <p:spPr bwMode="auto">
          <a:xfrm>
            <a:off x="566738" y="914400"/>
            <a:ext cx="8001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AutoShape 4">
            <a:extLst>
              <a:ext uri="{FF2B5EF4-FFF2-40B4-BE49-F238E27FC236}">
                <a16:creationId xmlns:a16="http://schemas.microsoft.com/office/drawing/2014/main" id="{BE6D950E-0AC5-352E-6E62-6EA796194486}"/>
              </a:ext>
            </a:extLst>
          </p:cNvPr>
          <p:cNvSpPr>
            <a:spLocks noChangeArrowheads="1"/>
          </p:cNvSpPr>
          <p:nvPr/>
        </p:nvSpPr>
        <p:spPr bwMode="auto">
          <a:xfrm>
            <a:off x="609600" y="590550"/>
            <a:ext cx="7958138" cy="82550"/>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4337" r:id="rId1"/>
    <p:sldLayoutId id="2147484326" r:id="rId2"/>
    <p:sldLayoutId id="2147484327" r:id="rId3"/>
    <p:sldLayoutId id="2147484328" r:id="rId4"/>
    <p:sldLayoutId id="2147484329" r:id="rId5"/>
    <p:sldLayoutId id="2147484330" r:id="rId6"/>
    <p:sldLayoutId id="2147484331" r:id="rId7"/>
    <p:sldLayoutId id="2147484332" r:id="rId8"/>
    <p:sldLayoutId id="2147484333" r:id="rId9"/>
    <p:sldLayoutId id="2147484334" r:id="rId10"/>
    <p:sldLayoutId id="2147484335" r:id="rId11"/>
    <p:sldLayoutId id="2147484336" r:id="rId12"/>
  </p:sldLayoutIdLst>
  <p:txStyles>
    <p:titleStyle>
      <a:lvl1pPr algn="l" rtl="0" eaLnBrk="0" fontAlgn="base" hangingPunct="0">
        <a:spcBef>
          <a:spcPct val="0"/>
        </a:spcBef>
        <a:spcAft>
          <a:spcPct val="0"/>
        </a:spcAft>
        <a:defRPr kumimoji="1" sz="2800">
          <a:solidFill>
            <a:schemeClr val="tx2"/>
          </a:solidFill>
          <a:latin typeface="+mj-lt"/>
          <a:ea typeface="+mj-ea"/>
          <a:cs typeface="+mj-cs"/>
        </a:defRPr>
      </a:lvl1pPr>
      <a:lvl2pPr algn="l" rtl="0" eaLnBrk="0" fontAlgn="base" hangingPunct="0">
        <a:spcBef>
          <a:spcPct val="0"/>
        </a:spcBef>
        <a:spcAft>
          <a:spcPct val="0"/>
        </a:spcAft>
        <a:defRPr kumimoji="1" sz="2800">
          <a:solidFill>
            <a:schemeClr val="tx2"/>
          </a:solidFill>
          <a:latin typeface="黑体" charset="0"/>
          <a:ea typeface="黑体" charset="0"/>
          <a:cs typeface="黑体" charset="0"/>
        </a:defRPr>
      </a:lvl2pPr>
      <a:lvl3pPr algn="l" rtl="0" eaLnBrk="0" fontAlgn="base" hangingPunct="0">
        <a:spcBef>
          <a:spcPct val="0"/>
        </a:spcBef>
        <a:spcAft>
          <a:spcPct val="0"/>
        </a:spcAft>
        <a:defRPr kumimoji="1" sz="2800">
          <a:solidFill>
            <a:schemeClr val="tx2"/>
          </a:solidFill>
          <a:latin typeface="黑体" charset="0"/>
          <a:ea typeface="黑体" charset="0"/>
          <a:cs typeface="黑体" charset="0"/>
        </a:defRPr>
      </a:lvl3pPr>
      <a:lvl4pPr algn="l" rtl="0" eaLnBrk="0" fontAlgn="base" hangingPunct="0">
        <a:spcBef>
          <a:spcPct val="0"/>
        </a:spcBef>
        <a:spcAft>
          <a:spcPct val="0"/>
        </a:spcAft>
        <a:defRPr kumimoji="1" sz="2800">
          <a:solidFill>
            <a:schemeClr val="tx2"/>
          </a:solidFill>
          <a:latin typeface="黑体" charset="0"/>
          <a:ea typeface="黑体" charset="0"/>
          <a:cs typeface="黑体" charset="0"/>
        </a:defRPr>
      </a:lvl4pPr>
      <a:lvl5pPr algn="l" rtl="0" eaLnBrk="0" fontAlgn="base" hangingPunct="0">
        <a:spcBef>
          <a:spcPct val="0"/>
        </a:spcBef>
        <a:spcAft>
          <a:spcPct val="0"/>
        </a:spcAft>
        <a:defRPr kumimoji="1" sz="2800">
          <a:solidFill>
            <a:schemeClr val="tx2"/>
          </a:solidFill>
          <a:latin typeface="黑体" charset="0"/>
          <a:ea typeface="黑体" charset="0"/>
          <a:cs typeface="黑体" charset="0"/>
        </a:defRPr>
      </a:lvl5pPr>
      <a:lvl6pPr marL="342900" algn="l" rtl="0" fontAlgn="base">
        <a:spcBef>
          <a:spcPct val="0"/>
        </a:spcBef>
        <a:spcAft>
          <a:spcPct val="0"/>
        </a:spcAft>
        <a:defRPr sz="2850">
          <a:solidFill>
            <a:schemeClr val="tx2"/>
          </a:solidFill>
          <a:latin typeface="黑体" charset="0"/>
          <a:ea typeface="黑体" charset="0"/>
          <a:cs typeface="黑体" charset="0"/>
        </a:defRPr>
      </a:lvl6pPr>
      <a:lvl7pPr marL="685800" algn="l" rtl="0" fontAlgn="base">
        <a:spcBef>
          <a:spcPct val="0"/>
        </a:spcBef>
        <a:spcAft>
          <a:spcPct val="0"/>
        </a:spcAft>
        <a:defRPr sz="2850">
          <a:solidFill>
            <a:schemeClr val="tx2"/>
          </a:solidFill>
          <a:latin typeface="黑体" charset="0"/>
          <a:ea typeface="黑体" charset="0"/>
          <a:cs typeface="黑体" charset="0"/>
        </a:defRPr>
      </a:lvl7pPr>
      <a:lvl8pPr marL="1028700" algn="l" rtl="0" fontAlgn="base">
        <a:spcBef>
          <a:spcPct val="0"/>
        </a:spcBef>
        <a:spcAft>
          <a:spcPct val="0"/>
        </a:spcAft>
        <a:defRPr sz="2850">
          <a:solidFill>
            <a:schemeClr val="tx2"/>
          </a:solidFill>
          <a:latin typeface="黑体" charset="0"/>
          <a:ea typeface="黑体" charset="0"/>
          <a:cs typeface="黑体" charset="0"/>
        </a:defRPr>
      </a:lvl8pPr>
      <a:lvl9pPr marL="1371600" algn="l" rtl="0" fontAlgn="base">
        <a:spcBef>
          <a:spcPct val="0"/>
        </a:spcBef>
        <a:spcAft>
          <a:spcPct val="0"/>
        </a:spcAft>
        <a:defRPr sz="2850">
          <a:solidFill>
            <a:schemeClr val="tx2"/>
          </a:solidFill>
          <a:latin typeface="黑体" charset="0"/>
          <a:ea typeface="黑体" charset="0"/>
          <a:cs typeface="黑体" charset="0"/>
        </a:defRPr>
      </a:lvl9pPr>
    </p:titleStyle>
    <p:bodyStyle>
      <a:lvl1pPr marL="352425" indent="-352425" algn="l" rtl="0" eaLnBrk="0" fontAlgn="base" hangingPunct="0">
        <a:spcBef>
          <a:spcPct val="20000"/>
        </a:spcBef>
        <a:spcAft>
          <a:spcPct val="0"/>
        </a:spcAft>
        <a:buClr>
          <a:schemeClr val="accent2"/>
        </a:buClr>
        <a:buFont typeface="Wingdings" panose="05000000000000000000" pitchFamily="2" charset="2"/>
        <a:buChar char="o"/>
        <a:defRPr kumimoji="1" sz="2200">
          <a:solidFill>
            <a:schemeClr val="tx1"/>
          </a:solidFill>
          <a:latin typeface="+mn-lt"/>
          <a:ea typeface="+mn-ea"/>
          <a:cs typeface="+mn-cs"/>
        </a:defRPr>
      </a:lvl1pPr>
      <a:lvl2pPr marL="681038" indent="-327025" algn="l" rtl="0" eaLnBrk="0" fontAlgn="base" hangingPunct="0">
        <a:spcBef>
          <a:spcPct val="20000"/>
        </a:spcBef>
        <a:spcAft>
          <a:spcPct val="0"/>
        </a:spcAft>
        <a:buClr>
          <a:schemeClr val="accent2"/>
        </a:buClr>
        <a:buFont typeface="Wingdings" panose="05000000000000000000" pitchFamily="2" charset="2"/>
        <a:buChar char="n"/>
        <a:defRPr kumimoji="1" sz="1900">
          <a:solidFill>
            <a:schemeClr val="tx1"/>
          </a:solidFill>
          <a:latin typeface="+mn-lt"/>
          <a:ea typeface="+mn-ea"/>
          <a:cs typeface="+mn-cs"/>
        </a:defRPr>
      </a:lvl2pPr>
      <a:lvl3pPr marL="977900" indent="-295275" algn="l" rtl="0" eaLnBrk="0" fontAlgn="base" hangingPunct="0">
        <a:spcBef>
          <a:spcPct val="20000"/>
        </a:spcBef>
        <a:spcAft>
          <a:spcPct val="0"/>
        </a:spcAft>
        <a:buClr>
          <a:schemeClr val="accent2"/>
        </a:buClr>
        <a:buFont typeface="Wingdings" panose="05000000000000000000" pitchFamily="2" charset="2"/>
        <a:buChar char="o"/>
        <a:defRPr kumimoji="1" sz="1700">
          <a:solidFill>
            <a:schemeClr val="tx1"/>
          </a:solidFill>
          <a:latin typeface="+mn-lt"/>
          <a:ea typeface="+mn-ea"/>
          <a:cs typeface="+mn-cs"/>
        </a:defRPr>
      </a:lvl3pPr>
      <a:lvl4pPr marL="1270000" indent="-290513" algn="l" rtl="0" eaLnBrk="0" fontAlgn="base" hangingPunct="0">
        <a:spcBef>
          <a:spcPct val="20000"/>
        </a:spcBef>
        <a:spcAft>
          <a:spcPct val="0"/>
        </a:spcAft>
        <a:buClr>
          <a:schemeClr val="accent2"/>
        </a:buClr>
        <a:buFont typeface="Wingdings" panose="05000000000000000000" pitchFamily="2" charset="2"/>
        <a:buChar char="n"/>
        <a:defRPr kumimoji="1" sz="1500">
          <a:solidFill>
            <a:schemeClr val="tx1"/>
          </a:solidFill>
          <a:latin typeface="+mn-lt"/>
          <a:ea typeface="+mn-ea"/>
          <a:cs typeface="+mn-cs"/>
        </a:defRPr>
      </a:lvl4pPr>
      <a:lvl5pPr marL="1570038" indent="-298450" algn="l" rtl="0" eaLnBrk="0" fontAlgn="base" hangingPunct="0">
        <a:spcBef>
          <a:spcPct val="25000"/>
        </a:spcBef>
        <a:spcAft>
          <a:spcPct val="0"/>
        </a:spcAft>
        <a:buClr>
          <a:schemeClr val="accent2"/>
        </a:buClr>
        <a:buFont typeface="Wingdings" panose="05000000000000000000" pitchFamily="2" charset="2"/>
        <a:buChar char="§"/>
        <a:defRPr kumimoji="1" sz="1500">
          <a:solidFill>
            <a:schemeClr val="tx1"/>
          </a:solidFill>
          <a:latin typeface="+mn-lt"/>
          <a:ea typeface="+mn-ea"/>
          <a:cs typeface="+mn-cs"/>
        </a:defRPr>
      </a:lvl5pPr>
      <a:lvl6pPr marL="1913335" indent="-298847" algn="l" rtl="0" fontAlgn="base">
        <a:spcBef>
          <a:spcPct val="25000"/>
        </a:spcBef>
        <a:spcAft>
          <a:spcPct val="0"/>
        </a:spcAft>
        <a:buClr>
          <a:schemeClr val="accent2"/>
        </a:buClr>
        <a:buFont typeface="Wingdings" charset="0"/>
        <a:buChar char="§"/>
        <a:defRPr sz="1500">
          <a:solidFill>
            <a:schemeClr val="tx1"/>
          </a:solidFill>
          <a:latin typeface="+mn-lt"/>
          <a:ea typeface="+mn-ea"/>
          <a:cs typeface="+mn-cs"/>
        </a:defRPr>
      </a:lvl6pPr>
      <a:lvl7pPr marL="2256235" indent="-298847" algn="l" rtl="0" fontAlgn="base">
        <a:spcBef>
          <a:spcPct val="25000"/>
        </a:spcBef>
        <a:spcAft>
          <a:spcPct val="0"/>
        </a:spcAft>
        <a:buClr>
          <a:schemeClr val="accent2"/>
        </a:buClr>
        <a:buFont typeface="Wingdings" charset="0"/>
        <a:buChar char="§"/>
        <a:defRPr sz="1500">
          <a:solidFill>
            <a:schemeClr val="tx1"/>
          </a:solidFill>
          <a:latin typeface="+mn-lt"/>
          <a:ea typeface="+mn-ea"/>
          <a:cs typeface="+mn-cs"/>
        </a:defRPr>
      </a:lvl7pPr>
      <a:lvl8pPr marL="2599135" indent="-298847" algn="l" rtl="0" fontAlgn="base">
        <a:spcBef>
          <a:spcPct val="25000"/>
        </a:spcBef>
        <a:spcAft>
          <a:spcPct val="0"/>
        </a:spcAft>
        <a:buClr>
          <a:schemeClr val="accent2"/>
        </a:buClr>
        <a:buFont typeface="Wingdings" charset="0"/>
        <a:buChar char="§"/>
        <a:defRPr sz="1500">
          <a:solidFill>
            <a:schemeClr val="tx1"/>
          </a:solidFill>
          <a:latin typeface="+mn-lt"/>
          <a:ea typeface="+mn-ea"/>
          <a:cs typeface="+mn-cs"/>
        </a:defRPr>
      </a:lvl8pPr>
      <a:lvl9pPr marL="2942035" indent="-298847" algn="l" rtl="0" fontAlgn="base">
        <a:spcBef>
          <a:spcPct val="25000"/>
        </a:spcBef>
        <a:spcAft>
          <a:spcPct val="0"/>
        </a:spcAft>
        <a:buClr>
          <a:schemeClr val="accent2"/>
        </a:buClr>
        <a:buFont typeface="Wingdings" charset="0"/>
        <a:buChar char="§"/>
        <a:defRPr sz="15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7.xml"/><Relationship Id="rId4" Type="http://schemas.openxmlformats.org/officeDocument/2006/relationships/image" Target="../media/image12.emf"/></Relationships>
</file>

<file path=ppt/slides/_rels/slide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4.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41" name="Rectangle 5">
            <a:extLst>
              <a:ext uri="{FF2B5EF4-FFF2-40B4-BE49-F238E27FC236}">
                <a16:creationId xmlns:a16="http://schemas.microsoft.com/office/drawing/2014/main" id="{C29B1079-B21F-BC9D-E214-25AD74390F19}"/>
              </a:ext>
            </a:extLst>
          </p:cNvPr>
          <p:cNvSpPr>
            <a:spLocks noChangeArrowheads="1"/>
          </p:cNvSpPr>
          <p:nvPr/>
        </p:nvSpPr>
        <p:spPr bwMode="auto">
          <a:xfrm>
            <a:off x="304800" y="895350"/>
            <a:ext cx="8153400" cy="1676400"/>
          </a:xfrm>
          <a:prstGeom prst="rect">
            <a:avLst/>
          </a:prstGeom>
          <a:noFill/>
          <a:ln>
            <a:noFill/>
          </a:ln>
          <a:effectLst/>
        </p:spPr>
        <p:txBody>
          <a:bodyPr lIns="0" rIns="0" anchor="ctr"/>
          <a:lstStyle/>
          <a:p>
            <a:pPr algn="ctr" fontAlgn="ctr">
              <a:lnSpc>
                <a:spcPct val="125000"/>
              </a:lnSpc>
              <a:spcBef>
                <a:spcPct val="25000"/>
              </a:spcBef>
              <a:spcAft>
                <a:spcPts val="0"/>
              </a:spcAft>
              <a:defRPr/>
            </a:pPr>
            <a:r>
              <a:rPr lang="en-US" altLang="zh-CN" sz="4400" b="1" dirty="0">
                <a:solidFill>
                  <a:srgbClr val="C00000"/>
                </a:solidFill>
                <a:effectLst>
                  <a:outerShdw blurRad="38100" dist="38100" dir="2700000" algn="tl">
                    <a:srgbClr val="000000">
                      <a:alpha val="43137"/>
                    </a:srgbClr>
                  </a:outerShdw>
                </a:effectLst>
                <a:latin typeface="Arial Black" panose="020B0A04020102020204" pitchFamily="34" charset="0"/>
                <a:ea typeface="华文中宋" pitchFamily="2" charset="-122"/>
              </a:rPr>
              <a:t>《</a:t>
            </a:r>
            <a:r>
              <a:rPr lang="zh-CN" altLang="en-US" sz="4400" b="1" dirty="0">
                <a:solidFill>
                  <a:srgbClr val="C00000"/>
                </a:solidFill>
                <a:effectLst>
                  <a:outerShdw blurRad="38100" dist="38100" dir="2700000" algn="tl">
                    <a:srgbClr val="000000">
                      <a:alpha val="43137"/>
                    </a:srgbClr>
                  </a:outerShdw>
                </a:effectLst>
                <a:latin typeface="Arial Black" panose="020B0A04020102020204" pitchFamily="34" charset="0"/>
                <a:ea typeface="华文中宋" pitchFamily="2" charset="-122"/>
              </a:rPr>
              <a:t>机电系统建模、辨识与控制</a:t>
            </a:r>
            <a:r>
              <a:rPr lang="en-US" altLang="zh-CN" sz="4400" b="1" dirty="0">
                <a:solidFill>
                  <a:srgbClr val="C00000"/>
                </a:solidFill>
                <a:effectLst>
                  <a:outerShdw blurRad="38100" dist="38100" dir="2700000" algn="tl">
                    <a:srgbClr val="000000">
                      <a:alpha val="43137"/>
                    </a:srgbClr>
                  </a:outerShdw>
                </a:effectLst>
                <a:latin typeface="Arial Black" panose="020B0A04020102020204" pitchFamily="34" charset="0"/>
                <a:ea typeface="华文中宋" pitchFamily="2" charset="-122"/>
              </a:rPr>
              <a:t>》</a:t>
            </a:r>
          </a:p>
          <a:p>
            <a:pPr algn="ctr" fontAlgn="ctr">
              <a:lnSpc>
                <a:spcPct val="125000"/>
              </a:lnSpc>
              <a:spcBef>
                <a:spcPct val="25000"/>
              </a:spcBef>
              <a:spcAft>
                <a:spcPts val="0"/>
              </a:spcAft>
              <a:defRPr/>
            </a:pPr>
            <a:r>
              <a:rPr lang="zh-CN" altLang="en-US" sz="4400" b="1" dirty="0">
                <a:solidFill>
                  <a:srgbClr val="C00000"/>
                </a:solidFill>
                <a:effectLst>
                  <a:outerShdw blurRad="38100" dist="38100" dir="2700000" algn="tl">
                    <a:srgbClr val="000000">
                      <a:alpha val="43137"/>
                    </a:srgbClr>
                  </a:outerShdw>
                </a:effectLst>
                <a:latin typeface="Arial Black" panose="020B0A04020102020204" pitchFamily="34" charset="0"/>
                <a:ea typeface="华文中宋" pitchFamily="2" charset="-122"/>
              </a:rPr>
              <a:t>课程汇报</a:t>
            </a:r>
            <a:r>
              <a:rPr lang="en-US" altLang="zh-CN" sz="4400" b="1" dirty="0">
                <a:solidFill>
                  <a:srgbClr val="C00000"/>
                </a:solidFill>
                <a:effectLst>
                  <a:outerShdw blurRad="38100" dist="38100" dir="2700000" algn="tl">
                    <a:srgbClr val="000000">
                      <a:alpha val="43137"/>
                    </a:srgbClr>
                  </a:outerShdw>
                </a:effectLst>
                <a:latin typeface="Arial Black" panose="020B0A04020102020204" pitchFamily="34" charset="0"/>
                <a:ea typeface="华文中宋" pitchFamily="2" charset="-122"/>
              </a:rPr>
              <a:t> </a:t>
            </a:r>
          </a:p>
        </p:txBody>
      </p:sp>
      <p:sp>
        <p:nvSpPr>
          <p:cNvPr id="4099" name="Rectangle 7" descr="实心菱形">
            <a:extLst>
              <a:ext uri="{FF2B5EF4-FFF2-40B4-BE49-F238E27FC236}">
                <a16:creationId xmlns:a16="http://schemas.microsoft.com/office/drawing/2014/main" id="{833CAA45-F0AC-86FB-15A8-15E9ECC29CF1}"/>
              </a:ext>
            </a:extLst>
          </p:cNvPr>
          <p:cNvSpPr>
            <a:spLocks noChangeArrowheads="1"/>
          </p:cNvSpPr>
          <p:nvPr/>
        </p:nvSpPr>
        <p:spPr bwMode="auto">
          <a:xfrm>
            <a:off x="533400" y="2571750"/>
            <a:ext cx="79248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lnSpc>
                <a:spcPct val="105000"/>
              </a:lnSpc>
              <a:spcBef>
                <a:spcPct val="10000"/>
              </a:spcBef>
            </a:pPr>
            <a:r>
              <a:rPr kumimoji="1" lang="en-US" altLang="zh-CN" b="1" dirty="0">
                <a:solidFill>
                  <a:srgbClr val="0000FF"/>
                </a:solidFill>
                <a:latin typeface="Arial" panose="020B0604020202020204" pitchFamily="34" charset="0"/>
                <a:ea typeface="华文中宋" panose="02010600040101010101" pitchFamily="2" charset="-122"/>
                <a:cs typeface="Arial" panose="020B0604020202020204" pitchFamily="34" charset="0"/>
              </a:rPr>
              <a:t>Name </a:t>
            </a:r>
            <a:r>
              <a:rPr kumimoji="1" lang="zh-CN" altLang="en-US" b="1" dirty="0">
                <a:solidFill>
                  <a:srgbClr val="0000FF"/>
                </a:solidFill>
                <a:latin typeface="Arial" panose="020B0604020202020204" pitchFamily="34" charset="0"/>
                <a:ea typeface="华文中宋" panose="02010600040101010101" pitchFamily="2" charset="-122"/>
                <a:cs typeface="Arial" panose="020B0604020202020204" pitchFamily="34" charset="0"/>
              </a:rPr>
              <a:t>刘侃</a:t>
            </a:r>
            <a:endParaRPr kumimoji="1" lang="en-US" altLang="zh-CN" b="1" dirty="0">
              <a:solidFill>
                <a:srgbClr val="0000FF"/>
              </a:solidFill>
              <a:latin typeface="Arial" panose="020B0604020202020204" pitchFamily="34" charset="0"/>
              <a:ea typeface="华文中宋" panose="02010600040101010101" pitchFamily="2" charset="-122"/>
              <a:cs typeface="Arial" panose="020B0604020202020204" pitchFamily="34" charset="0"/>
            </a:endParaRPr>
          </a:p>
          <a:p>
            <a:pPr algn="ctr">
              <a:lnSpc>
                <a:spcPct val="105000"/>
              </a:lnSpc>
              <a:spcBef>
                <a:spcPct val="10000"/>
              </a:spcBef>
            </a:pPr>
            <a:r>
              <a:rPr kumimoji="1" lang="en-US" altLang="zh-CN" b="1" dirty="0">
                <a:solidFill>
                  <a:srgbClr val="0000FF"/>
                </a:solidFill>
                <a:latin typeface="Arial" panose="020B0604020202020204" pitchFamily="34" charset="0"/>
                <a:ea typeface="华文中宋" panose="02010600040101010101" pitchFamily="2" charset="-122"/>
                <a:cs typeface="Arial" panose="020B0604020202020204" pitchFamily="34" charset="0"/>
              </a:rPr>
              <a:t>Student No. 3220103259</a:t>
            </a:r>
          </a:p>
          <a:p>
            <a:pPr algn="ctr">
              <a:lnSpc>
                <a:spcPct val="105000"/>
              </a:lnSpc>
              <a:spcBef>
                <a:spcPct val="10000"/>
              </a:spcBef>
            </a:pPr>
            <a:r>
              <a:rPr kumimoji="1" lang="en-US" altLang="zh-CN" b="1" dirty="0">
                <a:solidFill>
                  <a:srgbClr val="0000FF"/>
                </a:solidFill>
                <a:latin typeface="Arial" panose="020B0604020202020204" pitchFamily="34" charset="0"/>
                <a:ea typeface="华文中宋" panose="02010600040101010101" pitchFamily="2" charset="-122"/>
                <a:cs typeface="Arial" panose="020B0604020202020204" pitchFamily="34" charset="0"/>
              </a:rPr>
              <a:t>Date 2025.11.4</a:t>
            </a:r>
          </a:p>
          <a:p>
            <a:pPr algn="ctr">
              <a:lnSpc>
                <a:spcPct val="105000"/>
              </a:lnSpc>
              <a:spcBef>
                <a:spcPct val="10000"/>
              </a:spcBef>
            </a:pPr>
            <a:endParaRPr kumimoji="1" lang="en-US" altLang="zh-CN" sz="3200" b="1" dirty="0">
              <a:solidFill>
                <a:srgbClr val="000000"/>
              </a:solidFill>
              <a:latin typeface="华文中宋" panose="02010600040101010101" pitchFamily="2" charset="-122"/>
              <a:ea typeface="华文中宋" panose="02010600040101010101" pitchFamily="2" charset="-122"/>
              <a:cs typeface="Arial" panose="020B0604020202020204" pitchFamily="34" charset="0"/>
            </a:endParaRPr>
          </a:p>
        </p:txBody>
      </p:sp>
    </p:spTree>
  </p:cSld>
  <p:clrMapOvr>
    <a:masterClrMapping/>
  </p:clrMapOvr>
  <p:transition spd="slow" advTm="16057"/>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23B929BC-693E-633A-B7DF-2FD1DE496E2D}"/>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1.</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实验系统介绍（可加页）</a:t>
            </a:r>
            <a:endParaRPr lang="zh-CN" altLang="en-US" sz="2400" b="1" kern="0" dirty="0">
              <a:solidFill>
                <a:srgbClr val="C00000"/>
              </a:solidFill>
              <a:latin typeface="+mj-lt"/>
              <a:ea typeface="+mj-ea"/>
              <a:cs typeface="+mj-cs"/>
            </a:endParaRPr>
          </a:p>
        </p:txBody>
      </p:sp>
      <p:sp>
        <p:nvSpPr>
          <p:cNvPr id="6147" name="Rectangle 3">
            <a:extLst>
              <a:ext uri="{FF2B5EF4-FFF2-40B4-BE49-F238E27FC236}">
                <a16:creationId xmlns:a16="http://schemas.microsoft.com/office/drawing/2014/main" id="{4603A621-847C-FFA9-9FFE-7366A728998D}"/>
              </a:ext>
            </a:extLst>
          </p:cNvPr>
          <p:cNvSpPr txBox="1">
            <a:spLocks noChangeArrowheads="1"/>
          </p:cNvSpPr>
          <p:nvPr/>
        </p:nvSpPr>
        <p:spPr bwMode="auto">
          <a:xfrm>
            <a:off x="304800" y="666750"/>
            <a:ext cx="4267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系统软硬件平台描述</a:t>
            </a:r>
            <a:endParaRPr kumimoji="1" lang="en-US" altLang="zh-CN" sz="1200" b="1" dirty="0">
              <a:latin typeface="楷体_GB2312" panose="02010609030101010101" pitchFamily="49" charset="-122"/>
              <a:ea typeface="楷体_GB2312" panose="02010609030101010101" pitchFamily="49" charset="-122"/>
              <a:cs typeface="Times New Roman" panose="02020603050405020304" pitchFamily="18" charset="0"/>
            </a:endParaRPr>
          </a:p>
        </p:txBody>
      </p:sp>
      <p:sp>
        <p:nvSpPr>
          <p:cNvPr id="6149" name="灯片编号占位符 3">
            <a:extLst>
              <a:ext uri="{FF2B5EF4-FFF2-40B4-BE49-F238E27FC236}">
                <a16:creationId xmlns:a16="http://schemas.microsoft.com/office/drawing/2014/main" id="{3E7E79BB-959E-1AFF-B836-094E203EDF2B}"/>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B90E994-1ED7-48BE-8A77-64E731A8DFAC}" type="slidenum">
              <a:rPr lang="zh-CN" altLang="en-US"/>
              <a:pPr/>
              <a:t>2</a:t>
            </a:fld>
            <a:endParaRPr lang="zh-CN" altLang="en-US"/>
          </a:p>
        </p:txBody>
      </p:sp>
      <p:pic>
        <p:nvPicPr>
          <p:cNvPr id="2" name="图片 2">
            <a:extLst>
              <a:ext uri="{FF2B5EF4-FFF2-40B4-BE49-F238E27FC236}">
                <a16:creationId xmlns:a16="http://schemas.microsoft.com/office/drawing/2014/main" id="{84ACA9CA-D691-CA26-CFD2-1C8A3B0CDC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062" r="-200"/>
          <a:stretch>
            <a:fillRect/>
          </a:stretch>
        </p:blipFill>
        <p:spPr bwMode="auto">
          <a:xfrm>
            <a:off x="235104" y="1047750"/>
            <a:ext cx="4191000" cy="163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8">
            <a:extLst>
              <a:ext uri="{FF2B5EF4-FFF2-40B4-BE49-F238E27FC236}">
                <a16:creationId xmlns:a16="http://schemas.microsoft.com/office/drawing/2014/main" id="{A8680931-0DBA-8133-5115-0642B86E4F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9532" y="710241"/>
            <a:ext cx="448888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33">
            <a:extLst>
              <a:ext uri="{FF2B5EF4-FFF2-40B4-BE49-F238E27FC236}">
                <a16:creationId xmlns:a16="http://schemas.microsoft.com/office/drawing/2014/main" id="{2021D7E0-5D27-46F1-2576-4EFA9B10B29F}"/>
              </a:ext>
            </a:extLst>
          </p:cNvPr>
          <p:cNvSpPr>
            <a:spLocks noChangeArrowheads="1"/>
          </p:cNvSpPr>
          <p:nvPr/>
        </p:nvSpPr>
        <p:spPr bwMode="auto">
          <a:xfrm>
            <a:off x="5097895" y="2683804"/>
            <a:ext cx="30921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直线电机一级倒立摆系统原理框图</a:t>
            </a:r>
          </a:p>
        </p:txBody>
      </p:sp>
      <p:pic>
        <p:nvPicPr>
          <p:cNvPr id="16" name="图片 15">
            <a:extLst>
              <a:ext uri="{FF2B5EF4-FFF2-40B4-BE49-F238E27FC236}">
                <a16:creationId xmlns:a16="http://schemas.microsoft.com/office/drawing/2014/main" id="{CD87DF71-0884-5CC0-B4C3-F52302A576A9}"/>
              </a:ext>
            </a:extLst>
          </p:cNvPr>
          <p:cNvPicPr>
            <a:picLocks noChangeAspect="1"/>
          </p:cNvPicPr>
          <p:nvPr/>
        </p:nvPicPr>
        <p:blipFill>
          <a:blip r:embed="rId5"/>
          <a:stretch>
            <a:fillRect/>
          </a:stretch>
        </p:blipFill>
        <p:spPr>
          <a:xfrm>
            <a:off x="1051002" y="2797021"/>
            <a:ext cx="2559204" cy="2055913"/>
          </a:xfrm>
          <a:prstGeom prst="rect">
            <a:avLst/>
          </a:prstGeom>
        </p:spPr>
      </p:pic>
      <p:sp>
        <p:nvSpPr>
          <p:cNvPr id="17" name="矩形 33">
            <a:extLst>
              <a:ext uri="{FF2B5EF4-FFF2-40B4-BE49-F238E27FC236}">
                <a16:creationId xmlns:a16="http://schemas.microsoft.com/office/drawing/2014/main" id="{2B393EA2-23EC-9810-1FA0-1DC33043D32C}"/>
              </a:ext>
            </a:extLst>
          </p:cNvPr>
          <p:cNvSpPr>
            <a:spLocks noChangeArrowheads="1"/>
          </p:cNvSpPr>
          <p:nvPr/>
        </p:nvSpPr>
        <p:spPr bwMode="auto">
          <a:xfrm>
            <a:off x="1035204" y="4839789"/>
            <a:ext cx="2590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系统软件资源</a:t>
            </a:r>
          </a:p>
        </p:txBody>
      </p:sp>
      <p:pic>
        <p:nvPicPr>
          <p:cNvPr id="18" name="图片 17">
            <a:extLst>
              <a:ext uri="{FF2B5EF4-FFF2-40B4-BE49-F238E27FC236}">
                <a16:creationId xmlns:a16="http://schemas.microsoft.com/office/drawing/2014/main" id="{CA866139-474A-3A39-690E-39383EBE1F49}"/>
              </a:ext>
            </a:extLst>
          </p:cNvPr>
          <p:cNvPicPr>
            <a:picLocks noChangeAspect="1"/>
          </p:cNvPicPr>
          <p:nvPr/>
        </p:nvPicPr>
        <p:blipFill>
          <a:blip r:embed="rId6"/>
          <a:stretch>
            <a:fillRect/>
          </a:stretch>
        </p:blipFill>
        <p:spPr>
          <a:xfrm>
            <a:off x="4277932" y="3026806"/>
            <a:ext cx="4703072" cy="1817049"/>
          </a:xfrm>
          <a:prstGeom prst="rect">
            <a:avLst/>
          </a:prstGeom>
        </p:spPr>
      </p:pic>
      <p:sp>
        <p:nvSpPr>
          <p:cNvPr id="19" name="矩形 33">
            <a:extLst>
              <a:ext uri="{FF2B5EF4-FFF2-40B4-BE49-F238E27FC236}">
                <a16:creationId xmlns:a16="http://schemas.microsoft.com/office/drawing/2014/main" id="{B9A58FAC-34DE-5C46-E03C-80A97D3AD4F4}"/>
              </a:ext>
            </a:extLst>
          </p:cNvPr>
          <p:cNvSpPr>
            <a:spLocks noChangeArrowheads="1"/>
          </p:cNvSpPr>
          <p:nvPr/>
        </p:nvSpPr>
        <p:spPr bwMode="auto">
          <a:xfrm>
            <a:off x="5334068" y="4839789"/>
            <a:ext cx="2590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400" b="1" dirty="0" err="1">
                <a:latin typeface="Times New Roman" panose="02020603050405020304" pitchFamily="18" charset="0"/>
                <a:ea typeface="华文楷体" panose="02010600040101010101" pitchFamily="2" charset="-122"/>
                <a:cs typeface="Times New Roman" panose="02020603050405020304" pitchFamily="18" charset="0"/>
              </a:rPr>
              <a:t>Stateflow</a:t>
            </a: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流程示意</a:t>
            </a:r>
          </a:p>
        </p:txBody>
      </p:sp>
      <p:sp>
        <p:nvSpPr>
          <p:cNvPr id="6151" name="Rectangle 3">
            <a:extLst>
              <a:ext uri="{FF2B5EF4-FFF2-40B4-BE49-F238E27FC236}">
                <a16:creationId xmlns:a16="http://schemas.microsoft.com/office/drawing/2014/main" id="{B9AF57EA-C87B-D00B-CFC1-69E11FCA89EF}"/>
              </a:ext>
            </a:extLst>
          </p:cNvPr>
          <p:cNvSpPr txBox="1">
            <a:spLocks noChangeArrowheads="1"/>
          </p:cNvSpPr>
          <p:nvPr/>
        </p:nvSpPr>
        <p:spPr bwMode="auto">
          <a:xfrm>
            <a:off x="304800" y="1047750"/>
            <a:ext cx="5257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实验台照片等</a:t>
            </a:r>
          </a:p>
        </p:txBody>
      </p:sp>
      <p:sp>
        <p:nvSpPr>
          <p:cNvPr id="6150" name="矩形 33">
            <a:extLst>
              <a:ext uri="{FF2B5EF4-FFF2-40B4-BE49-F238E27FC236}">
                <a16:creationId xmlns:a16="http://schemas.microsoft.com/office/drawing/2014/main" id="{79AE002D-B752-4339-64D9-BD0D03CBC7C6}"/>
              </a:ext>
            </a:extLst>
          </p:cNvPr>
          <p:cNvSpPr>
            <a:spLocks noChangeArrowheads="1"/>
          </p:cNvSpPr>
          <p:nvPr/>
        </p:nvSpPr>
        <p:spPr bwMode="auto">
          <a:xfrm>
            <a:off x="1035204" y="2419350"/>
            <a:ext cx="2590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直线电机一级倒立摆系统</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D49C8167-CAF6-0FAD-DB12-1FF894DDB8E6}"/>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2.</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系统建模与响应分析（可加页）</a:t>
            </a:r>
            <a:endParaRPr lang="zh-CN" altLang="en-US" sz="2400" b="1" kern="0" dirty="0">
              <a:solidFill>
                <a:srgbClr val="C00000"/>
              </a:solidFill>
              <a:latin typeface="+mj-lt"/>
              <a:ea typeface="+mj-ea"/>
              <a:cs typeface="+mj-cs"/>
            </a:endParaRPr>
          </a:p>
        </p:txBody>
      </p:sp>
      <p:sp>
        <p:nvSpPr>
          <p:cNvPr id="7172" name="Rectangle 3">
            <a:extLst>
              <a:ext uri="{FF2B5EF4-FFF2-40B4-BE49-F238E27FC236}">
                <a16:creationId xmlns:a16="http://schemas.microsoft.com/office/drawing/2014/main" id="{E15978A7-2353-B609-961F-BCD83D0A4839}"/>
              </a:ext>
            </a:extLst>
          </p:cNvPr>
          <p:cNvSpPr txBox="1">
            <a:spLocks noChangeArrowheads="1"/>
          </p:cNvSpPr>
          <p:nvPr/>
        </p:nvSpPr>
        <p:spPr bwMode="auto">
          <a:xfrm>
            <a:off x="304800" y="66675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系统建模过程</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系统模型参数列表</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仿真与实际响应结果比较</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给出每次辨识时的小车位移、摆杆角度、小车加速度</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控制量）曲线）</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分析与思考</a:t>
            </a:r>
          </a:p>
          <a:p>
            <a:pPr eaLnBrk="1" fontAlgn="ctr" hangingPunct="1">
              <a:lnSpc>
                <a:spcPct val="110000"/>
              </a:lnSpc>
              <a:spcBef>
                <a:spcPts val="75"/>
              </a:spcBef>
              <a:spcAft>
                <a:spcPts val="225"/>
              </a:spcAft>
              <a:buClr>
                <a:srgbClr val="0000FF"/>
              </a:buClr>
              <a:buFont typeface="Wingdings" panose="05000000000000000000" pitchFamily="2" charset="2"/>
              <a:buChar char="p"/>
            </a:pPr>
            <a:endParaRPr kumimoji="1" lang="en-US" altLang="zh-CN" sz="1200" b="1" dirty="0">
              <a:latin typeface="楷体_GB2312" panose="02010609030101010101" pitchFamily="49" charset="-122"/>
              <a:ea typeface="楷体_GB2312" panose="02010609030101010101" pitchFamily="49" charset="-122"/>
              <a:cs typeface="Times New Roman" panose="02020603050405020304" pitchFamily="18" charset="0"/>
            </a:endParaRPr>
          </a:p>
        </p:txBody>
      </p:sp>
      <p:sp>
        <p:nvSpPr>
          <p:cNvPr id="7173" name="灯片编号占位符 3">
            <a:extLst>
              <a:ext uri="{FF2B5EF4-FFF2-40B4-BE49-F238E27FC236}">
                <a16:creationId xmlns:a16="http://schemas.microsoft.com/office/drawing/2014/main" id="{0AA9B368-F3CD-7602-DF07-BD27F3C2A9F8}"/>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84EDCF0-85C8-49F4-A073-DED54C0C0422}" type="slidenum">
              <a:rPr lang="zh-CN" altLang="en-US"/>
              <a:pPr/>
              <a:t>3</a:t>
            </a:fld>
            <a:endParaRPr lang="zh-CN" altLang="en-US"/>
          </a:p>
        </p:txBody>
      </p:sp>
      <p:sp>
        <p:nvSpPr>
          <p:cNvPr id="2" name="矩形 33">
            <a:extLst>
              <a:ext uri="{FF2B5EF4-FFF2-40B4-BE49-F238E27FC236}">
                <a16:creationId xmlns:a16="http://schemas.microsoft.com/office/drawing/2014/main" id="{40BA6438-920B-8E2B-EBE4-EFA7B91D4530}"/>
              </a:ext>
            </a:extLst>
          </p:cNvPr>
          <p:cNvSpPr>
            <a:spLocks noChangeArrowheads="1"/>
          </p:cNvSpPr>
          <p:nvPr/>
        </p:nvSpPr>
        <p:spPr bwMode="auto">
          <a:xfrm>
            <a:off x="1035204" y="2419350"/>
            <a:ext cx="2590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直线电机一级倒立摆系统</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ECDD0-4596-96E0-D925-1D60A6368F2D}"/>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BB55CDE9-2A90-9BD8-6565-3BA513661669}"/>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2.</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系统建模与响应分析（可加页）</a:t>
            </a:r>
            <a:endParaRPr lang="zh-CN" altLang="en-US" sz="2400" b="1" kern="0" dirty="0">
              <a:solidFill>
                <a:srgbClr val="C00000"/>
              </a:solidFill>
              <a:latin typeface="+mj-lt"/>
              <a:ea typeface="+mj-ea"/>
              <a:cs typeface="+mj-cs"/>
            </a:endParaRPr>
          </a:p>
        </p:txBody>
      </p:sp>
      <p:sp>
        <p:nvSpPr>
          <p:cNvPr id="7173" name="灯片编号占位符 3">
            <a:extLst>
              <a:ext uri="{FF2B5EF4-FFF2-40B4-BE49-F238E27FC236}">
                <a16:creationId xmlns:a16="http://schemas.microsoft.com/office/drawing/2014/main" id="{221AE015-16B6-CEF8-9337-35FEEE58D3C1}"/>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84EDCF0-85C8-49F4-A073-DED54C0C0422}" type="slidenum">
              <a:rPr lang="zh-CN" altLang="en-US"/>
              <a:pPr/>
              <a:t>4</a:t>
            </a:fld>
            <a:endParaRPr lang="zh-CN" altLang="en-US"/>
          </a:p>
        </p:txBody>
      </p:sp>
      <p:pic>
        <p:nvPicPr>
          <p:cNvPr id="3" name="图片 2">
            <a:extLst>
              <a:ext uri="{FF2B5EF4-FFF2-40B4-BE49-F238E27FC236}">
                <a16:creationId xmlns:a16="http://schemas.microsoft.com/office/drawing/2014/main" id="{67E88E7C-7F44-9BAE-92A0-F372037D6AA6}"/>
              </a:ext>
            </a:extLst>
          </p:cNvPr>
          <p:cNvPicPr>
            <a:picLocks noChangeAspect="1"/>
          </p:cNvPicPr>
          <p:nvPr/>
        </p:nvPicPr>
        <p:blipFill>
          <a:blip r:embed="rId3"/>
          <a:stretch>
            <a:fillRect/>
          </a:stretch>
        </p:blipFill>
        <p:spPr>
          <a:xfrm>
            <a:off x="228599" y="688495"/>
            <a:ext cx="2987330" cy="2052000"/>
          </a:xfrm>
          <a:prstGeom prst="rect">
            <a:avLst/>
          </a:prstGeom>
          <a:noFill/>
          <a:ln>
            <a:noFill/>
          </a:ln>
        </p:spPr>
      </p:pic>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21827A57-94E1-5801-73EE-1733E8D0FE12}"/>
                  </a:ext>
                </a:extLst>
              </p:cNvPr>
              <p:cNvGraphicFramePr>
                <a:graphicFrameLocks noGrp="1"/>
              </p:cNvGraphicFramePr>
              <p:nvPr>
                <p:extLst>
                  <p:ext uri="{D42A27DB-BD31-4B8C-83A1-F6EECF244321}">
                    <p14:modId xmlns:p14="http://schemas.microsoft.com/office/powerpoint/2010/main" val="2909133234"/>
                  </p:ext>
                </p:extLst>
              </p:nvPr>
            </p:nvGraphicFramePr>
            <p:xfrm>
              <a:off x="3733800" y="680372"/>
              <a:ext cx="4876800" cy="2295144"/>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393522479"/>
                        </a:ext>
                      </a:extLst>
                    </a:gridCol>
                    <a:gridCol w="2336801">
                      <a:extLst>
                        <a:ext uri="{9D8B030D-6E8A-4147-A177-3AD203B41FA5}">
                          <a16:colId xmlns:a16="http://schemas.microsoft.com/office/drawing/2014/main" val="2197541885"/>
                        </a:ext>
                      </a:extLst>
                    </a:gridCol>
                    <a:gridCol w="1625600">
                      <a:extLst>
                        <a:ext uri="{9D8B030D-6E8A-4147-A177-3AD203B41FA5}">
                          <a16:colId xmlns:a16="http://schemas.microsoft.com/office/drawing/2014/main" val="2296391197"/>
                        </a:ext>
                      </a:extLst>
                    </a:gridCol>
                  </a:tblGrid>
                  <a:tr h="71755">
                    <a:tc>
                      <a:txBody>
                        <a:bodyPr/>
                        <a:lstStyle/>
                        <a:p>
                          <a:pPr algn="ctr">
                            <a:buNone/>
                          </a:pPr>
                          <a:r>
                            <a:rPr lang="zh-CN" sz="1200" dirty="0">
                              <a:effectLst/>
                            </a:rPr>
                            <a:t>变量名</a:t>
                          </a:r>
                          <a:endParaRPr lang="zh-CN" sz="12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200" dirty="0">
                              <a:effectLst/>
                            </a:rPr>
                            <a:t>实际参数名</a:t>
                          </a:r>
                          <a:endParaRPr lang="zh-CN" sz="12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200">
                              <a:effectLst/>
                            </a:rPr>
                            <a:t>实际参数值</a:t>
                          </a:r>
                          <a:endParaRPr lang="zh-CN" sz="12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952228430"/>
                      </a:ext>
                    </a:extLst>
                  </a:tr>
                  <a:tr h="71755">
                    <a:tc>
                      <a:txBody>
                        <a:bodyPr/>
                        <a:lstStyle/>
                        <a:p>
                          <a:pPr algn="ctr">
                            <a:buNone/>
                          </a:pPr>
                          <a14:m>
                            <m:oMathPara xmlns:m="http://schemas.openxmlformats.org/officeDocument/2006/math">
                              <m:oMathParaPr>
                                <m:jc m:val="centerGroup"/>
                              </m:oMathParaPr>
                              <m:oMath xmlns:m="http://schemas.openxmlformats.org/officeDocument/2006/math">
                                <m:r>
                                  <a:rPr lang="en-US" sz="1050">
                                    <a:effectLst/>
                                    <a:latin typeface="Cambria Math" panose="02040503050406030204" pitchFamily="18" charset="0"/>
                                  </a:rPr>
                                  <m:t>𝑀</m:t>
                                </m:r>
                              </m:oMath>
                            </m:oMathPara>
                          </a14:m>
                          <a:endParaRPr lang="zh-CN" sz="12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050">
                              <a:effectLst/>
                            </a:rPr>
                            <a:t>滑块质量</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14:m>
                            <m:oMathPara xmlns:m="http://schemas.openxmlformats.org/officeDocument/2006/math">
                              <m:oMathParaPr>
                                <m:jc m:val="centerGroup"/>
                              </m:oMathParaPr>
                              <m:oMath xmlns:m="http://schemas.openxmlformats.org/officeDocument/2006/math">
                                <m:r>
                                  <a:rPr lang="en-US" sz="1050">
                                    <a:effectLst/>
                                    <a:latin typeface="Cambria Math" panose="02040503050406030204" pitchFamily="18" charset="0"/>
                                  </a:rPr>
                                  <m:t>1.35</m:t>
                                </m:r>
                                <m:r>
                                  <a:rPr lang="en-US" sz="1050">
                                    <a:effectLst/>
                                    <a:latin typeface="Cambria Math" panose="02040503050406030204" pitchFamily="18" charset="0"/>
                                  </a:rPr>
                                  <m:t>𝑘𝑔</m:t>
                                </m:r>
                              </m:oMath>
                            </m:oMathPara>
                          </a14:m>
                          <a:endParaRPr lang="zh-CN" sz="12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105354663"/>
                      </a:ext>
                    </a:extLst>
                  </a:tr>
                  <a:tr h="71755">
                    <a:tc>
                      <a:txBody>
                        <a:bodyPr/>
                        <a:lstStyle/>
                        <a:p>
                          <a:pPr algn="ctr">
                            <a:buNone/>
                          </a:pPr>
                          <a14:m>
                            <m:oMathPara xmlns:m="http://schemas.openxmlformats.org/officeDocument/2006/math">
                              <m:oMathParaPr>
                                <m:jc m:val="centerGroup"/>
                              </m:oMathParaPr>
                              <m:oMath xmlns:m="http://schemas.openxmlformats.org/officeDocument/2006/math">
                                <m:r>
                                  <a:rPr lang="en-US" sz="1050">
                                    <a:effectLst/>
                                    <a:latin typeface="Cambria Math" panose="02040503050406030204" pitchFamily="18" charset="0"/>
                                  </a:rPr>
                                  <m:t>𝑚</m:t>
                                </m:r>
                              </m:oMath>
                            </m:oMathPara>
                          </a14:m>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050" dirty="0">
                              <a:effectLst/>
                            </a:rPr>
                            <a:t>摆杆质量</a:t>
                          </a:r>
                          <a:endParaRPr lang="zh-CN" sz="12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14:m>
                            <m:oMathPara xmlns:m="http://schemas.openxmlformats.org/officeDocument/2006/math">
                              <m:oMathParaPr>
                                <m:jc m:val="centerGroup"/>
                              </m:oMathParaPr>
                              <m:oMath xmlns:m="http://schemas.openxmlformats.org/officeDocument/2006/math">
                                <m:r>
                                  <a:rPr lang="en-US" sz="1050">
                                    <a:effectLst/>
                                    <a:latin typeface="Cambria Math" panose="02040503050406030204" pitchFamily="18" charset="0"/>
                                  </a:rPr>
                                  <m:t>0.13</m:t>
                                </m:r>
                                <m:r>
                                  <a:rPr lang="en-US" sz="1050">
                                    <a:effectLst/>
                                    <a:latin typeface="Cambria Math" panose="02040503050406030204" pitchFamily="18" charset="0"/>
                                  </a:rPr>
                                  <m:t>𝑘𝑔</m:t>
                                </m:r>
                              </m:oMath>
                            </m:oMathPara>
                          </a14:m>
                          <a:endParaRPr lang="zh-CN" sz="12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654707778"/>
                      </a:ext>
                    </a:extLst>
                  </a:tr>
                  <a:tr h="71755">
                    <a:tc>
                      <a:txBody>
                        <a:bodyPr/>
                        <a:lstStyle/>
                        <a:p>
                          <a:pPr algn="ctr">
                            <a:buNone/>
                          </a:pPr>
                          <a14:m>
                            <m:oMathPara xmlns:m="http://schemas.openxmlformats.org/officeDocument/2006/math">
                              <m:oMathParaPr>
                                <m:jc m:val="centerGroup"/>
                              </m:oMathParaPr>
                              <m:oMath xmlns:m="http://schemas.openxmlformats.org/officeDocument/2006/math">
                                <m:r>
                                  <a:rPr lang="en-US" sz="1050">
                                    <a:effectLst/>
                                    <a:latin typeface="Cambria Math" panose="02040503050406030204" pitchFamily="18" charset="0"/>
                                  </a:rPr>
                                  <m:t>𝑏</m:t>
                                </m:r>
                              </m:oMath>
                            </m:oMathPara>
                          </a14:m>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050">
                              <a:effectLst/>
                            </a:rPr>
                            <a:t>滑块速度阻尼系数</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14:m>
                            <m:oMathPara xmlns:m="http://schemas.openxmlformats.org/officeDocument/2006/math">
                              <m:oMathParaPr>
                                <m:jc m:val="centerGroup"/>
                              </m:oMathParaPr>
                              <m:oMath xmlns:m="http://schemas.openxmlformats.org/officeDocument/2006/math">
                                <m:r>
                                  <a:rPr lang="en-US" sz="1050">
                                    <a:effectLst/>
                                    <a:latin typeface="Cambria Math" panose="02040503050406030204" pitchFamily="18" charset="0"/>
                                  </a:rPr>
                                  <m:t>0.08</m:t>
                                </m:r>
                              </m:oMath>
                            </m:oMathPara>
                          </a14:m>
                          <a:endParaRPr lang="zh-CN" sz="12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008068395"/>
                      </a:ext>
                    </a:extLst>
                  </a:tr>
                  <a:tr h="71755">
                    <a:tc>
                      <a:txBody>
                        <a:bodyPr/>
                        <a:lstStyle/>
                        <a:p>
                          <a:pPr algn="ctr">
                            <a:buNone/>
                          </a:pPr>
                          <a14:m>
                            <m:oMathPara xmlns:m="http://schemas.openxmlformats.org/officeDocument/2006/math">
                              <m:oMathParaPr>
                                <m:jc m:val="centerGroup"/>
                              </m:oMathParaPr>
                              <m:oMath xmlns:m="http://schemas.openxmlformats.org/officeDocument/2006/math">
                                <m:r>
                                  <a:rPr lang="en-US" sz="1050">
                                    <a:effectLst/>
                                    <a:latin typeface="Cambria Math" panose="02040503050406030204" pitchFamily="18" charset="0"/>
                                  </a:rPr>
                                  <m:t>𝑙</m:t>
                                </m:r>
                              </m:oMath>
                            </m:oMathPara>
                          </a14:m>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050">
                              <a:effectLst/>
                            </a:rPr>
                            <a:t>摆杆转动轴到重心的长度</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14:m>
                            <m:oMathPara xmlns:m="http://schemas.openxmlformats.org/officeDocument/2006/math">
                              <m:oMathParaPr>
                                <m:jc m:val="centerGroup"/>
                              </m:oMathParaPr>
                              <m:oMath xmlns:m="http://schemas.openxmlformats.org/officeDocument/2006/math">
                                <m:r>
                                  <a:rPr lang="en-US" sz="1050">
                                    <a:effectLst/>
                                    <a:latin typeface="Cambria Math" panose="02040503050406030204" pitchFamily="18" charset="0"/>
                                  </a:rPr>
                                  <m:t>0.2535</m:t>
                                </m:r>
                                <m:r>
                                  <a:rPr lang="en-US" sz="1050">
                                    <a:effectLst/>
                                    <a:latin typeface="Cambria Math" panose="02040503050406030204" pitchFamily="18" charset="0"/>
                                  </a:rPr>
                                  <m:t>𝑚</m:t>
                                </m:r>
                              </m:oMath>
                            </m:oMathPara>
                          </a14:m>
                          <a:endParaRPr lang="zh-CN" sz="12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051767837"/>
                      </a:ext>
                    </a:extLst>
                  </a:tr>
                  <a:tr h="71755">
                    <a:tc>
                      <a:txBody>
                        <a:bodyPr/>
                        <a:lstStyle/>
                        <a:p>
                          <a:pPr algn="ctr">
                            <a:buNone/>
                          </a:pPr>
                          <a14:m>
                            <m:oMathPara xmlns:m="http://schemas.openxmlformats.org/officeDocument/2006/math">
                              <m:oMathParaPr>
                                <m:jc m:val="centerGroup"/>
                              </m:oMathParaPr>
                              <m:oMath xmlns:m="http://schemas.openxmlformats.org/officeDocument/2006/math">
                                <m:r>
                                  <a:rPr lang="en-US" sz="1050">
                                    <a:effectLst/>
                                    <a:latin typeface="Cambria Math" panose="02040503050406030204" pitchFamily="18" charset="0"/>
                                  </a:rPr>
                                  <m:t>𝐿</m:t>
                                </m:r>
                              </m:oMath>
                            </m:oMathPara>
                          </a14:m>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050">
                              <a:effectLst/>
                            </a:rPr>
                            <a:t>电机导轨长度</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14:m>
                            <m:oMathPara xmlns:m="http://schemas.openxmlformats.org/officeDocument/2006/math">
                              <m:oMathParaPr>
                                <m:jc m:val="centerGroup"/>
                              </m:oMathParaPr>
                              <m:oMath xmlns:m="http://schemas.openxmlformats.org/officeDocument/2006/math">
                                <m:r>
                                  <a:rPr lang="en-US" sz="1050">
                                    <a:effectLst/>
                                    <a:latin typeface="Cambria Math" panose="02040503050406030204" pitchFamily="18" charset="0"/>
                                  </a:rPr>
                                  <m:t>0.5</m:t>
                                </m:r>
                                <m:r>
                                  <a:rPr lang="en-US" sz="1050">
                                    <a:effectLst/>
                                    <a:latin typeface="Cambria Math" panose="02040503050406030204" pitchFamily="18" charset="0"/>
                                  </a:rPr>
                                  <m:t>𝑚</m:t>
                                </m:r>
                              </m:oMath>
                            </m:oMathPara>
                          </a14:m>
                          <a:endParaRPr lang="zh-CN" sz="12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423628136"/>
                      </a:ext>
                    </a:extLst>
                  </a:tr>
                  <a:tr h="71755">
                    <a:tc>
                      <a:txBody>
                        <a:bodyPr/>
                        <a:lstStyle/>
                        <a:p>
                          <a:pPr algn="ctr">
                            <a:buNone/>
                          </a:pPr>
                          <a14:m>
                            <m:oMathPara xmlns:m="http://schemas.openxmlformats.org/officeDocument/2006/math">
                              <m:oMathParaPr>
                                <m:jc m:val="centerGroup"/>
                              </m:oMathParaPr>
                              <m:oMath xmlns:m="http://schemas.openxmlformats.org/officeDocument/2006/math">
                                <m:r>
                                  <a:rPr lang="en-US" sz="1050">
                                    <a:effectLst/>
                                    <a:latin typeface="Cambria Math" panose="02040503050406030204" pitchFamily="18" charset="0"/>
                                  </a:rPr>
                                  <m:t>𝐼</m:t>
                                </m:r>
                              </m:oMath>
                            </m:oMathPara>
                          </a14:m>
                          <a:endParaRPr lang="zh-CN" sz="12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050">
                              <a:effectLst/>
                            </a:rPr>
                            <a:t>摆杆围绕重心的转动惯量</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14:m>
                            <m:oMathPara xmlns:m="http://schemas.openxmlformats.org/officeDocument/2006/math">
                              <m:oMathParaPr>
                                <m:jc m:val="centerGroup"/>
                              </m:oMathParaPr>
                              <m:oMath xmlns:m="http://schemas.openxmlformats.org/officeDocument/2006/math">
                                <m:r>
                                  <a:rPr lang="en-US" sz="1050">
                                    <a:effectLst/>
                                    <a:latin typeface="Cambria Math" panose="02040503050406030204" pitchFamily="18" charset="0"/>
                                  </a:rPr>
                                  <m:t>2.8×1</m:t>
                                </m:r>
                                <m:sSup>
                                  <m:sSupPr>
                                    <m:ctrlPr>
                                      <a:rPr lang="zh-CN" sz="1050" i="1">
                                        <a:effectLst/>
                                        <a:latin typeface="Cambria Math" panose="02040503050406030204" pitchFamily="18" charset="0"/>
                                      </a:rPr>
                                    </m:ctrlPr>
                                  </m:sSupPr>
                                  <m:e>
                                    <m:r>
                                      <a:rPr lang="en-US" sz="1050">
                                        <a:effectLst/>
                                        <a:latin typeface="Cambria Math" panose="02040503050406030204" pitchFamily="18" charset="0"/>
                                      </a:rPr>
                                      <m:t>0</m:t>
                                    </m:r>
                                  </m:e>
                                  <m:sup>
                                    <m:r>
                                      <a:rPr lang="en-US" sz="1050">
                                        <a:effectLst/>
                                        <a:latin typeface="Cambria Math" panose="02040503050406030204" pitchFamily="18" charset="0"/>
                                      </a:rPr>
                                      <m:t>−3</m:t>
                                    </m:r>
                                  </m:sup>
                                </m:sSup>
                                <m:r>
                                  <a:rPr lang="en-US" sz="1050">
                                    <a:effectLst/>
                                    <a:latin typeface="Cambria Math" panose="02040503050406030204" pitchFamily="18" charset="0"/>
                                  </a:rPr>
                                  <m:t>𝑘𝑔</m:t>
                                </m:r>
                                <m:r>
                                  <a:rPr lang="zh-CN" sz="1050">
                                    <a:effectLst/>
                                    <a:latin typeface="Cambria Math" panose="02040503050406030204" pitchFamily="18" charset="0"/>
                                  </a:rPr>
                                  <m:t>⋅</m:t>
                                </m:r>
                                <m:sSup>
                                  <m:sSupPr>
                                    <m:ctrlPr>
                                      <a:rPr lang="zh-CN" sz="1050" i="1">
                                        <a:effectLst/>
                                        <a:latin typeface="Cambria Math" panose="02040503050406030204" pitchFamily="18" charset="0"/>
                                      </a:rPr>
                                    </m:ctrlPr>
                                  </m:sSupPr>
                                  <m:e>
                                    <m:r>
                                      <a:rPr lang="en-US" sz="1050">
                                        <a:effectLst/>
                                        <a:latin typeface="Cambria Math" panose="02040503050406030204" pitchFamily="18" charset="0"/>
                                      </a:rPr>
                                      <m:t>𝑚</m:t>
                                    </m:r>
                                  </m:e>
                                  <m:sup>
                                    <m:r>
                                      <a:rPr lang="en-US" sz="1050">
                                        <a:effectLst/>
                                        <a:latin typeface="Cambria Math" panose="02040503050406030204" pitchFamily="18" charset="0"/>
                                      </a:rPr>
                                      <m:t>2</m:t>
                                    </m:r>
                                  </m:sup>
                                </m:sSup>
                              </m:oMath>
                            </m:oMathPara>
                          </a14:m>
                          <a:endParaRPr lang="zh-CN" sz="12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299141914"/>
                      </a:ext>
                    </a:extLst>
                  </a:tr>
                  <a:tr h="71755">
                    <a:tc>
                      <a:txBody>
                        <a:bodyPr/>
                        <a:lstStyle/>
                        <a:p>
                          <a:pPr indent="304800" algn="ctr">
                            <a:lnSpc>
                              <a:spcPct val="130000"/>
                            </a:lnSpc>
                            <a:buNone/>
                            <a:tabLst>
                              <a:tab pos="457200" algn="l"/>
                            </a:tabLst>
                          </a:pPr>
                          <a14:m>
                            <m:oMathPara xmlns:m="http://schemas.openxmlformats.org/officeDocument/2006/math">
                              <m:oMathParaPr>
                                <m:jc m:val="centerGroup"/>
                              </m:oMathParaPr>
                              <m:oMath xmlns:m="http://schemas.openxmlformats.org/officeDocument/2006/math">
                                <m:r>
                                  <a:rPr lang="en-US" sz="1050" kern="100">
                                    <a:effectLst/>
                                    <a:latin typeface="Cambria Math" panose="02040503050406030204" pitchFamily="18" charset="0"/>
                                  </a:rPr>
                                  <m:t>𝑔</m:t>
                                </m:r>
                              </m:oMath>
                            </m:oMathPara>
                          </a14:m>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050">
                              <a:effectLst/>
                            </a:rPr>
                            <a:t>重力加速度</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indent="266700" algn="ctr">
                            <a:lnSpc>
                              <a:spcPct val="130000"/>
                            </a:lnSpc>
                            <a:buNone/>
                            <a:tabLst>
                              <a:tab pos="457200" algn="l"/>
                            </a:tabLst>
                          </a:pPr>
                          <a14:m>
                            <m:oMathPara xmlns:m="http://schemas.openxmlformats.org/officeDocument/2006/math">
                              <m:oMathParaPr>
                                <m:jc m:val="centerGroup"/>
                              </m:oMathParaPr>
                              <m:oMath xmlns:m="http://schemas.openxmlformats.org/officeDocument/2006/math">
                                <m:r>
                                  <a:rPr lang="en-US" sz="1050" kern="100">
                                    <a:effectLst/>
                                    <a:latin typeface="Cambria Math" panose="02040503050406030204" pitchFamily="18" charset="0"/>
                                  </a:rPr>
                                  <m:t>9.8</m:t>
                                </m:r>
                                <m:r>
                                  <a:rPr lang="en-US" sz="1050" kern="100">
                                    <a:effectLst/>
                                    <a:latin typeface="Cambria Math" panose="02040503050406030204" pitchFamily="18" charset="0"/>
                                  </a:rPr>
                                  <m:t>𝑚</m:t>
                                </m:r>
                                <m:r>
                                  <a:rPr lang="en-US" sz="1050" kern="100">
                                    <a:effectLst/>
                                    <a:latin typeface="Cambria Math" panose="02040503050406030204" pitchFamily="18" charset="0"/>
                                  </a:rPr>
                                  <m:t>/</m:t>
                                </m:r>
                                <m:sSup>
                                  <m:sSupPr>
                                    <m:ctrlPr>
                                      <a:rPr lang="zh-CN" sz="1050" i="1" kern="100">
                                        <a:effectLst/>
                                        <a:latin typeface="Cambria Math" panose="02040503050406030204" pitchFamily="18" charset="0"/>
                                      </a:rPr>
                                    </m:ctrlPr>
                                  </m:sSupPr>
                                  <m:e>
                                    <m:r>
                                      <a:rPr lang="en-US" sz="1050" kern="100">
                                        <a:effectLst/>
                                        <a:latin typeface="Cambria Math" panose="02040503050406030204" pitchFamily="18" charset="0"/>
                                      </a:rPr>
                                      <m:t>𝑠</m:t>
                                    </m:r>
                                  </m:e>
                                  <m:sup>
                                    <m:r>
                                      <a:rPr lang="en-US" sz="1050" kern="100">
                                        <a:effectLst/>
                                        <a:latin typeface="Cambria Math" panose="02040503050406030204" pitchFamily="18" charset="0"/>
                                      </a:rPr>
                                      <m:t>2</m:t>
                                    </m:r>
                                  </m:sup>
                                </m:sSup>
                              </m:oMath>
                            </m:oMathPara>
                          </a14:m>
                          <a:endParaRPr lang="zh-CN" sz="12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143523471"/>
                      </a:ext>
                    </a:extLst>
                  </a:tr>
                  <a:tr h="71755">
                    <a:tc>
                      <a:txBody>
                        <a:bodyPr/>
                        <a:lstStyle/>
                        <a:p>
                          <a:pPr indent="304800" algn="ctr">
                            <a:lnSpc>
                              <a:spcPct val="130000"/>
                            </a:lnSpc>
                            <a:buNone/>
                            <a:tabLst>
                              <a:tab pos="457200" algn="l"/>
                            </a:tabLst>
                          </a:pPr>
                          <a14:m>
                            <m:oMathPara xmlns:m="http://schemas.openxmlformats.org/officeDocument/2006/math">
                              <m:oMathParaPr>
                                <m:jc m:val="centerGroup"/>
                              </m:oMathParaPr>
                              <m:oMath xmlns:m="http://schemas.openxmlformats.org/officeDocument/2006/math">
                                <m:r>
                                  <a:rPr lang="en-US" sz="1050" kern="100">
                                    <a:effectLst/>
                                    <a:latin typeface="Cambria Math" panose="02040503050406030204" pitchFamily="18" charset="0"/>
                                  </a:rPr>
                                  <m:t>𝑢</m:t>
                                </m:r>
                              </m:oMath>
                            </m:oMathPara>
                          </a14:m>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050">
                              <a:effectLst/>
                            </a:rPr>
                            <a:t>滑块所受到的推力</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indent="304800" algn="just">
                            <a:lnSpc>
                              <a:spcPct val="130000"/>
                            </a:lnSpc>
                            <a:buNone/>
                            <a:tabLst>
                              <a:tab pos="457200" algn="l"/>
                            </a:tabLst>
                          </a:pPr>
                          <a:r>
                            <a:rPr lang="en-US" sz="1050" kern="100" dirty="0">
                              <a:effectLst/>
                            </a:rPr>
                            <a:t> </a:t>
                          </a:r>
                          <a:endParaRPr lang="zh-CN" sz="12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879196355"/>
                      </a:ext>
                    </a:extLst>
                  </a:tr>
                  <a:tr h="71755">
                    <a:tc>
                      <a:txBody>
                        <a:bodyPr/>
                        <a:lstStyle/>
                        <a:p>
                          <a:pPr indent="304800" algn="ctr">
                            <a:lnSpc>
                              <a:spcPct val="130000"/>
                            </a:lnSpc>
                            <a:buNone/>
                            <a:tabLst>
                              <a:tab pos="457200" algn="l"/>
                            </a:tabLst>
                          </a:pPr>
                          <a14:m>
                            <m:oMathPara xmlns:m="http://schemas.openxmlformats.org/officeDocument/2006/math">
                              <m:oMathParaPr>
                                <m:jc m:val="centerGroup"/>
                              </m:oMathParaPr>
                              <m:oMath xmlns:m="http://schemas.openxmlformats.org/officeDocument/2006/math">
                                <m:r>
                                  <a:rPr lang="en-US" sz="1050" kern="100">
                                    <a:effectLst/>
                                    <a:latin typeface="Cambria Math" panose="02040503050406030204" pitchFamily="18" charset="0"/>
                                  </a:rPr>
                                  <m:t>𝜃</m:t>
                                </m:r>
                              </m:oMath>
                            </m:oMathPara>
                          </a14:m>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050" dirty="0">
                              <a:effectLst/>
                            </a:rPr>
                            <a:t>摆杆与竖直向上方向的夹角</a:t>
                          </a:r>
                          <a:endParaRPr lang="zh-CN" sz="12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304800" algn="just">
                            <a:lnSpc>
                              <a:spcPct val="130000"/>
                            </a:lnSpc>
                            <a:buNone/>
                            <a:tabLst>
                              <a:tab pos="457200" algn="l"/>
                            </a:tabLst>
                          </a:pPr>
                          <a:r>
                            <a:rPr lang="en-US" sz="1050" kern="100">
                              <a:effectLst/>
                            </a:rPr>
                            <a:t> </a:t>
                          </a:r>
                          <a:endParaRPr lang="zh-CN" sz="12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471549780"/>
                      </a:ext>
                    </a:extLst>
                  </a:tr>
                  <a:tr h="71755">
                    <a:tc>
                      <a:txBody>
                        <a:bodyPr/>
                        <a:lstStyle/>
                        <a:p>
                          <a:pPr indent="304800" algn="ctr">
                            <a:lnSpc>
                              <a:spcPct val="130000"/>
                            </a:lnSpc>
                            <a:buNone/>
                            <a:tabLst>
                              <a:tab pos="457200" algn="l"/>
                            </a:tabLst>
                          </a:pPr>
                          <a14:m>
                            <m:oMathPara xmlns:m="http://schemas.openxmlformats.org/officeDocument/2006/math">
                              <m:oMathParaPr>
                                <m:jc m:val="centerGroup"/>
                              </m:oMathParaPr>
                              <m:oMath xmlns:m="http://schemas.openxmlformats.org/officeDocument/2006/math">
                                <m:r>
                                  <a:rPr lang="en-US" sz="1050" kern="100">
                                    <a:effectLst/>
                                    <a:latin typeface="Cambria Math" panose="02040503050406030204" pitchFamily="18" charset="0"/>
                                  </a:rPr>
                                  <m:t>𝑥</m:t>
                                </m:r>
                              </m:oMath>
                            </m:oMathPara>
                          </a14:m>
                          <a:endParaRPr lang="zh-CN" sz="12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050" dirty="0">
                              <a:effectLst/>
                            </a:rPr>
                            <a:t>滑块的位移</a:t>
                          </a:r>
                          <a:endParaRPr lang="zh-CN" sz="12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304800" algn="just">
                            <a:lnSpc>
                              <a:spcPct val="130000"/>
                            </a:lnSpc>
                            <a:buNone/>
                            <a:tabLst>
                              <a:tab pos="457200" algn="l"/>
                            </a:tabLst>
                          </a:pPr>
                          <a:r>
                            <a:rPr lang="en-US" sz="1050" kern="100" dirty="0">
                              <a:effectLst/>
                            </a:rPr>
                            <a:t> </a:t>
                          </a:r>
                          <a:endParaRPr lang="zh-CN" sz="12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05606852"/>
                      </a:ext>
                    </a:extLst>
                  </a:tr>
                  <a:tr h="71755">
                    <a:tc>
                      <a:txBody>
                        <a:bodyPr/>
                        <a:lstStyle/>
                        <a:p>
                          <a:pPr algn="ctr">
                            <a:buNone/>
                          </a:pPr>
                          <a14:m>
                            <m:oMathPara xmlns:m="http://schemas.openxmlformats.org/officeDocument/2006/math">
                              <m:oMathParaPr>
                                <m:jc m:val="centerGroup"/>
                              </m:oMathParaPr>
                              <m:oMath xmlns:m="http://schemas.openxmlformats.org/officeDocument/2006/math">
                                <m:r>
                                  <a:rPr lang="en-US" sz="1050" i="1">
                                    <a:effectLst/>
                                    <a:latin typeface="Cambria Math" panose="02040503050406030204" pitchFamily="18" charset="0"/>
                                    <a:ea typeface="宋体" panose="02010600030101010101" pitchFamily="2" charset="-122"/>
                                  </a:rPr>
                                  <m:t>𝐻</m:t>
                                </m:r>
                              </m:oMath>
                            </m:oMathPara>
                          </a14:m>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marL="0" algn="ctr" defTabSz="342900" rtl="0" eaLnBrk="1" latinLnBrk="0" hangingPunct="1">
                            <a:buNone/>
                          </a:pPr>
                          <a:r>
                            <a:rPr lang="zh-CN" altLang="en-US" sz="1050" kern="1200" dirty="0">
                              <a:solidFill>
                                <a:schemeClr val="dk1"/>
                              </a:solidFill>
                              <a:effectLst/>
                              <a:latin typeface="+mn-lt"/>
                              <a:ea typeface="+mn-ea"/>
                              <a:cs typeface="+mn-cs"/>
                            </a:rPr>
                            <a:t>滑块与摆杆在水平方向上的作用力</a:t>
                          </a:r>
                        </a:p>
                      </a:txBody>
                      <a:tcPr marL="68580" marR="68580" marT="0" marB="0"/>
                    </a:tc>
                    <a:tc>
                      <a:txBody>
                        <a:bodyPr/>
                        <a:lstStyle/>
                        <a:p>
                          <a:pPr algn="l">
                            <a:buNone/>
                          </a:pPr>
                          <a:r>
                            <a:rPr lang="en-US" sz="1050">
                              <a:effectLst/>
                              <a:latin typeface="Times New Roman" panose="02020603050405020304" pitchFamily="18" charset="0"/>
                              <a:ea typeface="宋体" panose="02010600030101010101" pitchFamily="2" charset="-122"/>
                            </a:rPr>
                            <a:t> </a:t>
                          </a:r>
                          <a:endParaRPr lang="zh-CN" sz="12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61726730"/>
                      </a:ext>
                    </a:extLst>
                  </a:tr>
                  <a:tr h="71755">
                    <a:tc>
                      <a:txBody>
                        <a:bodyPr/>
                        <a:lstStyle/>
                        <a:p>
                          <a:pPr algn="ctr">
                            <a:buNone/>
                          </a:pPr>
                          <a14:m>
                            <m:oMathPara xmlns:m="http://schemas.openxmlformats.org/officeDocument/2006/math">
                              <m:oMathParaPr>
                                <m:jc m:val="centerGroup"/>
                              </m:oMathParaPr>
                              <m:oMath xmlns:m="http://schemas.openxmlformats.org/officeDocument/2006/math">
                                <m:r>
                                  <a:rPr lang="en-US" sz="1050" i="1">
                                    <a:effectLst/>
                                    <a:latin typeface="Cambria Math" panose="02040503050406030204" pitchFamily="18" charset="0"/>
                                    <a:ea typeface="宋体" panose="02010600030101010101" pitchFamily="2" charset="-122"/>
                                  </a:rPr>
                                  <m:t>𝑉</m:t>
                                </m:r>
                              </m:oMath>
                            </m:oMathPara>
                          </a14:m>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marL="0" algn="ctr" defTabSz="342900" rtl="0" eaLnBrk="1" latinLnBrk="0" hangingPunct="1">
                            <a:buNone/>
                          </a:pPr>
                          <a:r>
                            <a:rPr lang="zh-CN" altLang="en-US" sz="1050" kern="1200" dirty="0">
                              <a:solidFill>
                                <a:schemeClr val="dk1"/>
                              </a:solidFill>
                              <a:effectLst/>
                              <a:latin typeface="+mn-lt"/>
                              <a:ea typeface="+mn-ea"/>
                              <a:cs typeface="+mn-cs"/>
                            </a:rPr>
                            <a:t>滑块与摆杆在垂直方向上的作用力</a:t>
                          </a:r>
                        </a:p>
                      </a:txBody>
                      <a:tcPr marL="68580" marR="68580" marT="0" marB="0"/>
                    </a:tc>
                    <a:tc>
                      <a:txBody>
                        <a:bodyPr/>
                        <a:lstStyle/>
                        <a:p>
                          <a:pPr algn="l">
                            <a:buNone/>
                          </a:pPr>
                          <a:r>
                            <a:rPr lang="en-US" sz="1050" dirty="0">
                              <a:effectLst/>
                              <a:latin typeface="Times New Roman" panose="02020603050405020304" pitchFamily="18" charset="0"/>
                              <a:ea typeface="宋体" panose="02010600030101010101" pitchFamily="2" charset="-122"/>
                            </a:rPr>
                            <a:t> </a:t>
                          </a:r>
                          <a:endParaRPr lang="zh-CN" sz="12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026238902"/>
                      </a:ext>
                    </a:extLst>
                  </a:tr>
                </a:tbl>
              </a:graphicData>
            </a:graphic>
          </p:graphicFrame>
        </mc:Choice>
        <mc:Fallback xmlns="">
          <p:graphicFrame>
            <p:nvGraphicFramePr>
              <p:cNvPr id="4" name="表格 3">
                <a:extLst>
                  <a:ext uri="{FF2B5EF4-FFF2-40B4-BE49-F238E27FC236}">
                    <a16:creationId xmlns:a16="http://schemas.microsoft.com/office/drawing/2014/main" id="{21827A57-94E1-5801-73EE-1733E8D0FE12}"/>
                  </a:ext>
                </a:extLst>
              </p:cNvPr>
              <p:cNvGraphicFramePr>
                <a:graphicFrameLocks noGrp="1"/>
              </p:cNvGraphicFramePr>
              <p:nvPr>
                <p:extLst>
                  <p:ext uri="{D42A27DB-BD31-4B8C-83A1-F6EECF244321}">
                    <p14:modId xmlns:p14="http://schemas.microsoft.com/office/powerpoint/2010/main" val="2909133234"/>
                  </p:ext>
                </p:extLst>
              </p:nvPr>
            </p:nvGraphicFramePr>
            <p:xfrm>
              <a:off x="3733800" y="680372"/>
              <a:ext cx="4876800" cy="2303590"/>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393522479"/>
                        </a:ext>
                      </a:extLst>
                    </a:gridCol>
                    <a:gridCol w="2336801">
                      <a:extLst>
                        <a:ext uri="{9D8B030D-6E8A-4147-A177-3AD203B41FA5}">
                          <a16:colId xmlns:a16="http://schemas.microsoft.com/office/drawing/2014/main" val="2197541885"/>
                        </a:ext>
                      </a:extLst>
                    </a:gridCol>
                    <a:gridCol w="1625600">
                      <a:extLst>
                        <a:ext uri="{9D8B030D-6E8A-4147-A177-3AD203B41FA5}">
                          <a16:colId xmlns:a16="http://schemas.microsoft.com/office/drawing/2014/main" val="2296391197"/>
                        </a:ext>
                      </a:extLst>
                    </a:gridCol>
                  </a:tblGrid>
                  <a:tr h="182880">
                    <a:tc>
                      <a:txBody>
                        <a:bodyPr/>
                        <a:lstStyle/>
                        <a:p>
                          <a:pPr algn="ctr">
                            <a:buNone/>
                          </a:pPr>
                          <a:r>
                            <a:rPr lang="zh-CN" sz="1200" dirty="0">
                              <a:effectLst/>
                            </a:rPr>
                            <a:t>变量名</a:t>
                          </a:r>
                          <a:endParaRPr lang="zh-CN" sz="12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200" dirty="0">
                              <a:effectLst/>
                            </a:rPr>
                            <a:t>实际参数名</a:t>
                          </a:r>
                          <a:endParaRPr lang="zh-CN" sz="12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buNone/>
                          </a:pPr>
                          <a:r>
                            <a:rPr lang="zh-CN" sz="1200">
                              <a:effectLst/>
                            </a:rPr>
                            <a:t>实际参数值</a:t>
                          </a:r>
                          <a:endParaRPr lang="zh-CN" sz="12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952228430"/>
                      </a:ext>
                    </a:extLst>
                  </a:tr>
                  <a:tr h="160020">
                    <a:tc>
                      <a:txBody>
                        <a:bodyPr/>
                        <a:lstStyle/>
                        <a:p>
                          <a:endParaRPr lang="zh-CN"/>
                        </a:p>
                      </a:txBody>
                      <a:tcPr marL="68580" marR="68580" marT="0" marB="0">
                        <a:blipFill>
                          <a:blip r:embed="rId4"/>
                          <a:stretch>
                            <a:fillRect l="-667" t="-146154" r="-436667" b="-1296154"/>
                          </a:stretch>
                        </a:blipFill>
                      </a:tcPr>
                    </a:tc>
                    <a:tc>
                      <a:txBody>
                        <a:bodyPr/>
                        <a:lstStyle/>
                        <a:p>
                          <a:pPr algn="ctr">
                            <a:buNone/>
                          </a:pPr>
                          <a:r>
                            <a:rPr lang="zh-CN" sz="1050">
                              <a:effectLst/>
                            </a:rPr>
                            <a:t>滑块质量</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4"/>
                          <a:stretch>
                            <a:fillRect l="-200375" t="-146154" r="-1498" b="-1296154"/>
                          </a:stretch>
                        </a:blipFill>
                      </a:tcPr>
                    </a:tc>
                    <a:extLst>
                      <a:ext uri="{0D108BD9-81ED-4DB2-BD59-A6C34878D82A}">
                        <a16:rowId xmlns:a16="http://schemas.microsoft.com/office/drawing/2014/main" val="3105354663"/>
                      </a:ext>
                    </a:extLst>
                  </a:tr>
                  <a:tr h="160020">
                    <a:tc>
                      <a:txBody>
                        <a:bodyPr/>
                        <a:lstStyle/>
                        <a:p>
                          <a:endParaRPr lang="zh-CN"/>
                        </a:p>
                      </a:txBody>
                      <a:tcPr marL="68580" marR="68580" marT="0" marB="0">
                        <a:blipFill>
                          <a:blip r:embed="rId4"/>
                          <a:stretch>
                            <a:fillRect l="-667" t="-237037" r="-436667" b="-1148148"/>
                          </a:stretch>
                        </a:blipFill>
                      </a:tcPr>
                    </a:tc>
                    <a:tc>
                      <a:txBody>
                        <a:bodyPr/>
                        <a:lstStyle/>
                        <a:p>
                          <a:pPr algn="ctr">
                            <a:buNone/>
                          </a:pPr>
                          <a:r>
                            <a:rPr lang="zh-CN" sz="1050" dirty="0">
                              <a:effectLst/>
                            </a:rPr>
                            <a:t>摆杆质量</a:t>
                          </a:r>
                          <a:endParaRPr lang="zh-CN" sz="1200" dirty="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4"/>
                          <a:stretch>
                            <a:fillRect l="-200375" t="-237037" r="-1498" b="-1148148"/>
                          </a:stretch>
                        </a:blipFill>
                      </a:tcPr>
                    </a:tc>
                    <a:extLst>
                      <a:ext uri="{0D108BD9-81ED-4DB2-BD59-A6C34878D82A}">
                        <a16:rowId xmlns:a16="http://schemas.microsoft.com/office/drawing/2014/main" val="654707778"/>
                      </a:ext>
                    </a:extLst>
                  </a:tr>
                  <a:tr h="160020">
                    <a:tc>
                      <a:txBody>
                        <a:bodyPr/>
                        <a:lstStyle/>
                        <a:p>
                          <a:endParaRPr lang="zh-CN"/>
                        </a:p>
                      </a:txBody>
                      <a:tcPr marL="68580" marR="68580" marT="0" marB="0">
                        <a:blipFill>
                          <a:blip r:embed="rId4"/>
                          <a:stretch>
                            <a:fillRect l="-667" t="-350000" r="-436667" b="-1092308"/>
                          </a:stretch>
                        </a:blipFill>
                      </a:tcPr>
                    </a:tc>
                    <a:tc>
                      <a:txBody>
                        <a:bodyPr/>
                        <a:lstStyle/>
                        <a:p>
                          <a:pPr algn="ctr">
                            <a:buNone/>
                          </a:pPr>
                          <a:r>
                            <a:rPr lang="zh-CN" sz="1050">
                              <a:effectLst/>
                            </a:rPr>
                            <a:t>滑块速度阻尼系数</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4"/>
                          <a:stretch>
                            <a:fillRect l="-200375" t="-350000" r="-1498" b="-1092308"/>
                          </a:stretch>
                        </a:blipFill>
                      </a:tcPr>
                    </a:tc>
                    <a:extLst>
                      <a:ext uri="{0D108BD9-81ED-4DB2-BD59-A6C34878D82A}">
                        <a16:rowId xmlns:a16="http://schemas.microsoft.com/office/drawing/2014/main" val="4008068395"/>
                      </a:ext>
                    </a:extLst>
                  </a:tr>
                  <a:tr h="160020">
                    <a:tc>
                      <a:txBody>
                        <a:bodyPr/>
                        <a:lstStyle/>
                        <a:p>
                          <a:endParaRPr lang="zh-CN"/>
                        </a:p>
                      </a:txBody>
                      <a:tcPr marL="68580" marR="68580" marT="0" marB="0">
                        <a:blipFill>
                          <a:blip r:embed="rId4"/>
                          <a:stretch>
                            <a:fillRect l="-667" t="-450000" r="-436667" b="-992308"/>
                          </a:stretch>
                        </a:blipFill>
                      </a:tcPr>
                    </a:tc>
                    <a:tc>
                      <a:txBody>
                        <a:bodyPr/>
                        <a:lstStyle/>
                        <a:p>
                          <a:pPr algn="ctr">
                            <a:buNone/>
                          </a:pPr>
                          <a:r>
                            <a:rPr lang="zh-CN" sz="1050">
                              <a:effectLst/>
                            </a:rPr>
                            <a:t>摆杆转动轴到重心的长度</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4"/>
                          <a:stretch>
                            <a:fillRect l="-200375" t="-450000" r="-1498" b="-992308"/>
                          </a:stretch>
                        </a:blipFill>
                      </a:tcPr>
                    </a:tc>
                    <a:extLst>
                      <a:ext uri="{0D108BD9-81ED-4DB2-BD59-A6C34878D82A}">
                        <a16:rowId xmlns:a16="http://schemas.microsoft.com/office/drawing/2014/main" val="2051767837"/>
                      </a:ext>
                    </a:extLst>
                  </a:tr>
                  <a:tr h="160020">
                    <a:tc>
                      <a:txBody>
                        <a:bodyPr/>
                        <a:lstStyle/>
                        <a:p>
                          <a:endParaRPr lang="zh-CN"/>
                        </a:p>
                      </a:txBody>
                      <a:tcPr marL="68580" marR="68580" marT="0" marB="0">
                        <a:blipFill>
                          <a:blip r:embed="rId4"/>
                          <a:stretch>
                            <a:fillRect l="-667" t="-529630" r="-436667" b="-855556"/>
                          </a:stretch>
                        </a:blipFill>
                      </a:tcPr>
                    </a:tc>
                    <a:tc>
                      <a:txBody>
                        <a:bodyPr/>
                        <a:lstStyle/>
                        <a:p>
                          <a:pPr algn="ctr">
                            <a:buNone/>
                          </a:pPr>
                          <a:r>
                            <a:rPr lang="zh-CN" sz="1050">
                              <a:effectLst/>
                            </a:rPr>
                            <a:t>电机导轨长度</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4"/>
                          <a:stretch>
                            <a:fillRect l="-200375" t="-529630" r="-1498" b="-855556"/>
                          </a:stretch>
                        </a:blipFill>
                      </a:tcPr>
                    </a:tc>
                    <a:extLst>
                      <a:ext uri="{0D108BD9-81ED-4DB2-BD59-A6C34878D82A}">
                        <a16:rowId xmlns:a16="http://schemas.microsoft.com/office/drawing/2014/main" val="2423628136"/>
                      </a:ext>
                    </a:extLst>
                  </a:tr>
                  <a:tr h="163703">
                    <a:tc>
                      <a:txBody>
                        <a:bodyPr/>
                        <a:lstStyle/>
                        <a:p>
                          <a:endParaRPr lang="zh-CN"/>
                        </a:p>
                      </a:txBody>
                      <a:tcPr marL="68580" marR="68580" marT="0" marB="0">
                        <a:blipFill>
                          <a:blip r:embed="rId4"/>
                          <a:stretch>
                            <a:fillRect l="-667" t="-629630" r="-436667" b="-755556"/>
                          </a:stretch>
                        </a:blipFill>
                      </a:tcPr>
                    </a:tc>
                    <a:tc>
                      <a:txBody>
                        <a:bodyPr/>
                        <a:lstStyle/>
                        <a:p>
                          <a:pPr algn="ctr">
                            <a:buNone/>
                          </a:pPr>
                          <a:r>
                            <a:rPr lang="zh-CN" sz="1050">
                              <a:effectLst/>
                            </a:rPr>
                            <a:t>摆杆围绕重心的转动惯量</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4"/>
                          <a:stretch>
                            <a:fillRect l="-200375" t="-629630" r="-1498" b="-755556"/>
                          </a:stretch>
                        </a:blipFill>
                      </a:tcPr>
                    </a:tc>
                    <a:extLst>
                      <a:ext uri="{0D108BD9-81ED-4DB2-BD59-A6C34878D82A}">
                        <a16:rowId xmlns:a16="http://schemas.microsoft.com/office/drawing/2014/main" val="2299141914"/>
                      </a:ext>
                    </a:extLst>
                  </a:tr>
                  <a:tr h="212789">
                    <a:tc>
                      <a:txBody>
                        <a:bodyPr/>
                        <a:lstStyle/>
                        <a:p>
                          <a:endParaRPr lang="zh-CN"/>
                        </a:p>
                      </a:txBody>
                      <a:tcPr marL="68580" marR="68580" marT="0" marB="0">
                        <a:blipFill>
                          <a:blip r:embed="rId4"/>
                          <a:stretch>
                            <a:fillRect l="-667" t="-562857" r="-436667" b="-482857"/>
                          </a:stretch>
                        </a:blipFill>
                      </a:tcPr>
                    </a:tc>
                    <a:tc>
                      <a:txBody>
                        <a:bodyPr/>
                        <a:lstStyle/>
                        <a:p>
                          <a:pPr algn="ctr">
                            <a:buNone/>
                          </a:pPr>
                          <a:r>
                            <a:rPr lang="zh-CN" sz="1050">
                              <a:effectLst/>
                            </a:rPr>
                            <a:t>重力加速度</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endParaRPr lang="zh-CN"/>
                        </a:p>
                      </a:txBody>
                      <a:tcPr marL="68580" marR="68580" marT="0" marB="0">
                        <a:blipFill>
                          <a:blip r:embed="rId4"/>
                          <a:stretch>
                            <a:fillRect l="-200375" t="-562857" r="-1498" b="-482857"/>
                          </a:stretch>
                        </a:blipFill>
                      </a:tcPr>
                    </a:tc>
                    <a:extLst>
                      <a:ext uri="{0D108BD9-81ED-4DB2-BD59-A6C34878D82A}">
                        <a16:rowId xmlns:a16="http://schemas.microsoft.com/office/drawing/2014/main" val="1143523471"/>
                      </a:ext>
                    </a:extLst>
                  </a:tr>
                  <a:tr h="208026">
                    <a:tc>
                      <a:txBody>
                        <a:bodyPr/>
                        <a:lstStyle/>
                        <a:p>
                          <a:endParaRPr lang="zh-CN"/>
                        </a:p>
                      </a:txBody>
                      <a:tcPr marL="68580" marR="68580" marT="0" marB="0">
                        <a:blipFill>
                          <a:blip r:embed="rId4"/>
                          <a:stretch>
                            <a:fillRect l="-667" t="-682353" r="-436667" b="-397059"/>
                          </a:stretch>
                        </a:blipFill>
                      </a:tcPr>
                    </a:tc>
                    <a:tc>
                      <a:txBody>
                        <a:bodyPr/>
                        <a:lstStyle/>
                        <a:p>
                          <a:pPr algn="ctr">
                            <a:buNone/>
                          </a:pPr>
                          <a:r>
                            <a:rPr lang="zh-CN" sz="1050">
                              <a:effectLst/>
                            </a:rPr>
                            <a:t>滑块所受到的推力</a:t>
                          </a:r>
                          <a:endParaRPr lang="zh-CN" sz="1200">
                            <a:effectLst/>
                            <a:latin typeface="Times New Roman" panose="02020603050405020304" pitchFamily="18" charset="0"/>
                            <a:ea typeface="宋体" panose="02010600030101010101" pitchFamily="2" charset="-122"/>
                          </a:endParaRPr>
                        </a:p>
                      </a:txBody>
                      <a:tcPr marL="68580" marR="68580" marT="0" marB="0"/>
                    </a:tc>
                    <a:tc>
                      <a:txBody>
                        <a:bodyPr/>
                        <a:lstStyle/>
                        <a:p>
                          <a:pPr indent="304800" algn="just">
                            <a:lnSpc>
                              <a:spcPct val="130000"/>
                            </a:lnSpc>
                            <a:buNone/>
                            <a:tabLst>
                              <a:tab pos="457200" algn="l"/>
                            </a:tabLst>
                          </a:pPr>
                          <a:r>
                            <a:rPr lang="en-US" sz="1050" kern="100" dirty="0">
                              <a:effectLst/>
                            </a:rPr>
                            <a:t> </a:t>
                          </a:r>
                          <a:endParaRPr lang="zh-CN" sz="12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879196355"/>
                      </a:ext>
                    </a:extLst>
                  </a:tr>
                  <a:tr h="208026">
                    <a:tc>
                      <a:txBody>
                        <a:bodyPr/>
                        <a:lstStyle/>
                        <a:p>
                          <a:endParaRPr lang="zh-CN"/>
                        </a:p>
                      </a:txBody>
                      <a:tcPr marL="68580" marR="68580" marT="0" marB="0">
                        <a:blipFill>
                          <a:blip r:embed="rId4"/>
                          <a:stretch>
                            <a:fillRect l="-667" t="-782353" r="-436667" b="-297059"/>
                          </a:stretch>
                        </a:blipFill>
                      </a:tcPr>
                    </a:tc>
                    <a:tc>
                      <a:txBody>
                        <a:bodyPr/>
                        <a:lstStyle/>
                        <a:p>
                          <a:pPr algn="ctr">
                            <a:buNone/>
                          </a:pPr>
                          <a:r>
                            <a:rPr lang="zh-CN" sz="1050" dirty="0">
                              <a:effectLst/>
                            </a:rPr>
                            <a:t>摆杆与竖直向上方向的夹角</a:t>
                          </a:r>
                          <a:endParaRPr lang="zh-CN" sz="12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304800" algn="just">
                            <a:lnSpc>
                              <a:spcPct val="130000"/>
                            </a:lnSpc>
                            <a:buNone/>
                            <a:tabLst>
                              <a:tab pos="457200" algn="l"/>
                            </a:tabLst>
                          </a:pPr>
                          <a:r>
                            <a:rPr lang="en-US" sz="1050" kern="100">
                              <a:effectLst/>
                            </a:rPr>
                            <a:t> </a:t>
                          </a:r>
                          <a:endParaRPr lang="zh-CN" sz="12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471549780"/>
                      </a:ext>
                    </a:extLst>
                  </a:tr>
                  <a:tr h="208026">
                    <a:tc>
                      <a:txBody>
                        <a:bodyPr/>
                        <a:lstStyle/>
                        <a:p>
                          <a:endParaRPr lang="zh-CN"/>
                        </a:p>
                      </a:txBody>
                      <a:tcPr marL="68580" marR="68580" marT="0" marB="0">
                        <a:blipFill>
                          <a:blip r:embed="rId4"/>
                          <a:stretch>
                            <a:fillRect l="-667" t="-882353" r="-436667" b="-197059"/>
                          </a:stretch>
                        </a:blipFill>
                      </a:tcPr>
                    </a:tc>
                    <a:tc>
                      <a:txBody>
                        <a:bodyPr/>
                        <a:lstStyle/>
                        <a:p>
                          <a:pPr algn="ctr">
                            <a:buNone/>
                          </a:pPr>
                          <a:r>
                            <a:rPr lang="zh-CN" sz="1050" dirty="0">
                              <a:effectLst/>
                            </a:rPr>
                            <a:t>滑块的位移</a:t>
                          </a:r>
                          <a:endParaRPr lang="zh-CN" sz="1200" dirty="0">
                            <a:effectLst/>
                            <a:latin typeface="Times New Roman" panose="02020603050405020304" pitchFamily="18" charset="0"/>
                            <a:ea typeface="宋体" panose="02010600030101010101" pitchFamily="2" charset="-122"/>
                          </a:endParaRPr>
                        </a:p>
                      </a:txBody>
                      <a:tcPr marL="68580" marR="68580" marT="0" marB="0"/>
                    </a:tc>
                    <a:tc>
                      <a:txBody>
                        <a:bodyPr/>
                        <a:lstStyle/>
                        <a:p>
                          <a:pPr indent="304800" algn="just">
                            <a:lnSpc>
                              <a:spcPct val="130000"/>
                            </a:lnSpc>
                            <a:buNone/>
                            <a:tabLst>
                              <a:tab pos="457200" algn="l"/>
                            </a:tabLst>
                          </a:pPr>
                          <a:r>
                            <a:rPr lang="en-US" sz="1050" kern="100" dirty="0">
                              <a:effectLst/>
                            </a:rPr>
                            <a:t> </a:t>
                          </a:r>
                          <a:endParaRPr lang="zh-CN" sz="12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05606852"/>
                      </a:ext>
                    </a:extLst>
                  </a:tr>
                  <a:tr h="160020">
                    <a:tc>
                      <a:txBody>
                        <a:bodyPr/>
                        <a:lstStyle/>
                        <a:p>
                          <a:endParaRPr lang="zh-CN"/>
                        </a:p>
                      </a:txBody>
                      <a:tcPr marL="68580" marR="68580" marT="0" marB="0">
                        <a:blipFill>
                          <a:blip r:embed="rId4"/>
                          <a:stretch>
                            <a:fillRect l="-667" t="-1237037" r="-436667" b="-148148"/>
                          </a:stretch>
                        </a:blipFill>
                      </a:tcPr>
                    </a:tc>
                    <a:tc>
                      <a:txBody>
                        <a:bodyPr/>
                        <a:lstStyle/>
                        <a:p>
                          <a:pPr marL="0" algn="ctr" defTabSz="342900" rtl="0" eaLnBrk="1" latinLnBrk="0" hangingPunct="1">
                            <a:buNone/>
                          </a:pPr>
                          <a:r>
                            <a:rPr lang="zh-CN" altLang="en-US" sz="1050" kern="1200" dirty="0">
                              <a:solidFill>
                                <a:schemeClr val="dk1"/>
                              </a:solidFill>
                              <a:effectLst/>
                              <a:latin typeface="+mn-lt"/>
                              <a:ea typeface="+mn-ea"/>
                              <a:cs typeface="+mn-cs"/>
                            </a:rPr>
                            <a:t>滑块与摆杆在水平方向上的作用力</a:t>
                          </a:r>
                        </a:p>
                      </a:txBody>
                      <a:tcPr marL="68580" marR="68580" marT="0" marB="0"/>
                    </a:tc>
                    <a:tc>
                      <a:txBody>
                        <a:bodyPr/>
                        <a:lstStyle/>
                        <a:p>
                          <a:pPr algn="l">
                            <a:buNone/>
                          </a:pPr>
                          <a:r>
                            <a:rPr lang="en-US" sz="1050">
                              <a:effectLst/>
                              <a:latin typeface="Times New Roman" panose="02020603050405020304" pitchFamily="18" charset="0"/>
                              <a:ea typeface="宋体" panose="02010600030101010101" pitchFamily="2" charset="-122"/>
                            </a:rPr>
                            <a:t> </a:t>
                          </a:r>
                          <a:endParaRPr lang="zh-CN" sz="12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61726730"/>
                      </a:ext>
                    </a:extLst>
                  </a:tr>
                  <a:tr h="160020">
                    <a:tc>
                      <a:txBody>
                        <a:bodyPr/>
                        <a:lstStyle/>
                        <a:p>
                          <a:endParaRPr lang="zh-CN"/>
                        </a:p>
                      </a:txBody>
                      <a:tcPr marL="68580" marR="68580" marT="0" marB="0">
                        <a:blipFill>
                          <a:blip r:embed="rId4"/>
                          <a:stretch>
                            <a:fillRect l="-667" t="-1388462" r="-436667" b="-53846"/>
                          </a:stretch>
                        </a:blipFill>
                      </a:tcPr>
                    </a:tc>
                    <a:tc>
                      <a:txBody>
                        <a:bodyPr/>
                        <a:lstStyle/>
                        <a:p>
                          <a:pPr marL="0" algn="ctr" defTabSz="342900" rtl="0" eaLnBrk="1" latinLnBrk="0" hangingPunct="1">
                            <a:buNone/>
                          </a:pPr>
                          <a:r>
                            <a:rPr lang="zh-CN" altLang="en-US" sz="1050" kern="1200" dirty="0">
                              <a:solidFill>
                                <a:schemeClr val="dk1"/>
                              </a:solidFill>
                              <a:effectLst/>
                              <a:latin typeface="+mn-lt"/>
                              <a:ea typeface="+mn-ea"/>
                              <a:cs typeface="+mn-cs"/>
                            </a:rPr>
                            <a:t>滑块与摆杆在垂直方向上的作用力</a:t>
                          </a:r>
                        </a:p>
                      </a:txBody>
                      <a:tcPr marL="68580" marR="68580" marT="0" marB="0"/>
                    </a:tc>
                    <a:tc>
                      <a:txBody>
                        <a:bodyPr/>
                        <a:lstStyle/>
                        <a:p>
                          <a:pPr algn="l">
                            <a:buNone/>
                          </a:pPr>
                          <a:r>
                            <a:rPr lang="en-US" sz="1050" dirty="0">
                              <a:effectLst/>
                              <a:latin typeface="Times New Roman" panose="02020603050405020304" pitchFamily="18" charset="0"/>
                              <a:ea typeface="宋体" panose="02010600030101010101" pitchFamily="2" charset="-122"/>
                            </a:rPr>
                            <a:t> </a:t>
                          </a:r>
                          <a:endParaRPr lang="zh-CN" sz="12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026238902"/>
                      </a:ext>
                    </a:extLst>
                  </a:tr>
                </a:tbl>
              </a:graphicData>
            </a:graphic>
          </p:graphicFrame>
        </mc:Fallback>
      </mc:AlternateContent>
      <p:pic>
        <p:nvPicPr>
          <p:cNvPr id="5" name="Picture 11">
            <a:extLst>
              <a:ext uri="{FF2B5EF4-FFF2-40B4-BE49-F238E27FC236}">
                <a16:creationId xmlns:a16="http://schemas.microsoft.com/office/drawing/2014/main" id="{0BCB4AF6-B671-1A1A-5B61-C4419E5301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264" y="2800350"/>
            <a:ext cx="2964000" cy="20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33">
            <a:extLst>
              <a:ext uri="{FF2B5EF4-FFF2-40B4-BE49-F238E27FC236}">
                <a16:creationId xmlns:a16="http://schemas.microsoft.com/office/drawing/2014/main" id="{AE239BB6-FA69-374F-DA29-3F40951002B7}"/>
              </a:ext>
            </a:extLst>
          </p:cNvPr>
          <p:cNvSpPr>
            <a:spLocks noChangeArrowheads="1"/>
          </p:cNvSpPr>
          <p:nvPr/>
        </p:nvSpPr>
        <p:spPr bwMode="auto">
          <a:xfrm>
            <a:off x="426864" y="2681058"/>
            <a:ext cx="2590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直线电机一级倒立摆模型</a:t>
            </a:r>
          </a:p>
        </p:txBody>
      </p:sp>
      <p:sp>
        <p:nvSpPr>
          <p:cNvPr id="9" name="矩形 33">
            <a:extLst>
              <a:ext uri="{FF2B5EF4-FFF2-40B4-BE49-F238E27FC236}">
                <a16:creationId xmlns:a16="http://schemas.microsoft.com/office/drawing/2014/main" id="{071A903A-4B25-7152-9211-6E3CB1DE7E40}"/>
              </a:ext>
            </a:extLst>
          </p:cNvPr>
          <p:cNvSpPr>
            <a:spLocks noChangeArrowheads="1"/>
          </p:cNvSpPr>
          <p:nvPr/>
        </p:nvSpPr>
        <p:spPr bwMode="auto">
          <a:xfrm>
            <a:off x="426864" y="4781550"/>
            <a:ext cx="2590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直线电机一级顺摆模型</a:t>
            </a:r>
          </a:p>
        </p:txBody>
      </p:sp>
      <p:pic>
        <p:nvPicPr>
          <p:cNvPr id="12" name="图片 11">
            <a:extLst>
              <a:ext uri="{FF2B5EF4-FFF2-40B4-BE49-F238E27FC236}">
                <a16:creationId xmlns:a16="http://schemas.microsoft.com/office/drawing/2014/main" id="{64BD205B-C2EE-8642-EAA4-EED533268883}"/>
              </a:ext>
            </a:extLst>
          </p:cNvPr>
          <p:cNvPicPr>
            <a:picLocks noChangeAspect="1"/>
          </p:cNvPicPr>
          <p:nvPr/>
        </p:nvPicPr>
        <p:blipFill>
          <a:blip r:embed="rId6"/>
          <a:stretch>
            <a:fillRect/>
          </a:stretch>
        </p:blipFill>
        <p:spPr>
          <a:xfrm>
            <a:off x="3247969" y="2983500"/>
            <a:ext cx="2910354" cy="2160000"/>
          </a:xfrm>
          <a:prstGeom prst="rect">
            <a:avLst/>
          </a:prstGeom>
        </p:spPr>
      </p:pic>
      <p:pic>
        <p:nvPicPr>
          <p:cNvPr id="14" name="图片 13">
            <a:extLst>
              <a:ext uri="{FF2B5EF4-FFF2-40B4-BE49-F238E27FC236}">
                <a16:creationId xmlns:a16="http://schemas.microsoft.com/office/drawing/2014/main" id="{8702CA24-999E-15FC-CB52-32B65E130E2F}"/>
              </a:ext>
            </a:extLst>
          </p:cNvPr>
          <p:cNvPicPr>
            <a:picLocks noChangeAspect="1"/>
          </p:cNvPicPr>
          <p:nvPr/>
        </p:nvPicPr>
        <p:blipFill>
          <a:blip r:embed="rId7"/>
          <a:stretch>
            <a:fillRect/>
          </a:stretch>
        </p:blipFill>
        <p:spPr>
          <a:xfrm>
            <a:off x="6144810" y="2983500"/>
            <a:ext cx="2999190" cy="2160000"/>
          </a:xfrm>
          <a:prstGeom prst="rect">
            <a:avLst/>
          </a:prstGeom>
        </p:spPr>
      </p:pic>
    </p:spTree>
    <p:extLst>
      <p:ext uri="{BB962C8B-B14F-4D97-AF65-F5344CB8AC3E}">
        <p14:creationId xmlns:p14="http://schemas.microsoft.com/office/powerpoint/2010/main" val="1208313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BF91E-F7CF-CFAF-B95F-C11D823BD57B}"/>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37FF7832-D6C9-3A1F-CCC4-64EBDDB3D737}"/>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2.</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系统建模与响应分析（可加页）</a:t>
            </a:r>
            <a:endParaRPr lang="zh-CN" altLang="en-US" sz="2400" b="1" kern="0" dirty="0">
              <a:solidFill>
                <a:srgbClr val="C00000"/>
              </a:solidFill>
              <a:latin typeface="+mj-lt"/>
              <a:ea typeface="+mj-ea"/>
              <a:cs typeface="+mj-cs"/>
            </a:endParaRPr>
          </a:p>
        </p:txBody>
      </p:sp>
      <p:sp>
        <p:nvSpPr>
          <p:cNvPr id="7172" name="Rectangle 3">
            <a:extLst>
              <a:ext uri="{FF2B5EF4-FFF2-40B4-BE49-F238E27FC236}">
                <a16:creationId xmlns:a16="http://schemas.microsoft.com/office/drawing/2014/main" id="{66F7824D-E2F7-F599-A568-77DC904E41A1}"/>
              </a:ext>
            </a:extLst>
          </p:cNvPr>
          <p:cNvSpPr txBox="1">
            <a:spLocks noChangeArrowheads="1"/>
          </p:cNvSpPr>
          <p:nvPr/>
        </p:nvSpPr>
        <p:spPr bwMode="auto">
          <a:xfrm>
            <a:off x="304800" y="666750"/>
            <a:ext cx="8610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仿真与实际响应结果比较</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给出每次辨识时的小车位移、摆杆角度、小车加速度</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控制量）曲线）</a:t>
            </a:r>
          </a:p>
        </p:txBody>
      </p:sp>
      <p:sp>
        <p:nvSpPr>
          <p:cNvPr id="7173" name="灯片编号占位符 3">
            <a:extLst>
              <a:ext uri="{FF2B5EF4-FFF2-40B4-BE49-F238E27FC236}">
                <a16:creationId xmlns:a16="http://schemas.microsoft.com/office/drawing/2014/main" id="{3408E2CA-C429-FFD1-F14E-C7FD7EB4E53D}"/>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84EDCF0-85C8-49F4-A073-DED54C0C0422}" type="slidenum">
              <a:rPr lang="zh-CN" altLang="en-US"/>
              <a:pPr/>
              <a:t>5</a:t>
            </a:fld>
            <a:endParaRPr lang="zh-CN" altLang="en-US"/>
          </a:p>
        </p:txBody>
      </p:sp>
      <p:pic>
        <p:nvPicPr>
          <p:cNvPr id="4" name="图片 3">
            <a:extLst>
              <a:ext uri="{FF2B5EF4-FFF2-40B4-BE49-F238E27FC236}">
                <a16:creationId xmlns:a16="http://schemas.microsoft.com/office/drawing/2014/main" id="{A33F6461-6FAA-DC1C-B674-341F5E6324DA}"/>
              </a:ext>
            </a:extLst>
          </p:cNvPr>
          <p:cNvPicPr>
            <a:picLocks noChangeAspect="1"/>
          </p:cNvPicPr>
          <p:nvPr/>
        </p:nvPicPr>
        <p:blipFill>
          <a:blip r:embed="rId2"/>
          <a:stretch>
            <a:fillRect/>
          </a:stretch>
        </p:blipFill>
        <p:spPr>
          <a:xfrm>
            <a:off x="100781" y="1352550"/>
            <a:ext cx="2880000" cy="2310142"/>
          </a:xfrm>
          <a:prstGeom prst="rect">
            <a:avLst/>
          </a:prstGeom>
        </p:spPr>
      </p:pic>
      <p:sp>
        <p:nvSpPr>
          <p:cNvPr id="5" name="矩形 33">
            <a:extLst>
              <a:ext uri="{FF2B5EF4-FFF2-40B4-BE49-F238E27FC236}">
                <a16:creationId xmlns:a16="http://schemas.microsoft.com/office/drawing/2014/main" id="{16C4BDC1-5A69-EA79-993F-F6405C2CAE6F}"/>
              </a:ext>
            </a:extLst>
          </p:cNvPr>
          <p:cNvSpPr>
            <a:spLocks noChangeArrowheads="1"/>
          </p:cNvSpPr>
          <p:nvPr/>
        </p:nvSpPr>
        <p:spPr bwMode="auto">
          <a:xfrm>
            <a:off x="245381" y="3662692"/>
            <a:ext cx="2590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倒立摆阶跃响应</a:t>
            </a:r>
          </a:p>
        </p:txBody>
      </p:sp>
      <p:pic>
        <p:nvPicPr>
          <p:cNvPr id="7" name="图片 6">
            <a:extLst>
              <a:ext uri="{FF2B5EF4-FFF2-40B4-BE49-F238E27FC236}">
                <a16:creationId xmlns:a16="http://schemas.microsoft.com/office/drawing/2014/main" id="{62FF608D-BB35-6D70-C8D5-A57EA0A6CA1D}"/>
              </a:ext>
            </a:extLst>
          </p:cNvPr>
          <p:cNvPicPr>
            <a:picLocks noChangeAspect="1"/>
          </p:cNvPicPr>
          <p:nvPr/>
        </p:nvPicPr>
        <p:blipFill>
          <a:blip r:embed="rId3"/>
          <a:stretch>
            <a:fillRect/>
          </a:stretch>
        </p:blipFill>
        <p:spPr>
          <a:xfrm>
            <a:off x="3148397" y="1352550"/>
            <a:ext cx="2880000" cy="2310142"/>
          </a:xfrm>
          <a:prstGeom prst="rect">
            <a:avLst/>
          </a:prstGeom>
        </p:spPr>
      </p:pic>
      <p:sp>
        <p:nvSpPr>
          <p:cNvPr id="9" name="文本框 8">
            <a:extLst>
              <a:ext uri="{FF2B5EF4-FFF2-40B4-BE49-F238E27FC236}">
                <a16:creationId xmlns:a16="http://schemas.microsoft.com/office/drawing/2014/main" id="{16DE4005-B7B3-8AE6-8F7F-198B87CB001A}"/>
              </a:ext>
            </a:extLst>
          </p:cNvPr>
          <p:cNvSpPr txBox="1"/>
          <p:nvPr/>
        </p:nvSpPr>
        <p:spPr>
          <a:xfrm>
            <a:off x="6721613" y="3662692"/>
            <a:ext cx="1828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400" b="1">
                <a:latin typeface="Times New Roman" panose="02020603050405020304" pitchFamily="18" charset="0"/>
                <a:ea typeface="华文楷体" panose="02010600040101010101" pitchFamily="2" charset="-122"/>
                <a:cs typeface="Times New Roman" panose="02020603050405020304" pitchFamily="18" charset="0"/>
              </a:defRPr>
            </a:lvl1pPr>
          </a:lstStyle>
          <a:p>
            <a:r>
              <a:rPr lang="zh-CN" altLang="en-US" dirty="0"/>
              <a:t>顺摆方波响应</a:t>
            </a:r>
          </a:p>
        </p:txBody>
      </p:sp>
      <p:sp>
        <p:nvSpPr>
          <p:cNvPr id="12" name="文本框 11">
            <a:extLst>
              <a:ext uri="{FF2B5EF4-FFF2-40B4-BE49-F238E27FC236}">
                <a16:creationId xmlns:a16="http://schemas.microsoft.com/office/drawing/2014/main" id="{49C26104-CD86-1203-EEAC-2C7C46B93248}"/>
              </a:ext>
            </a:extLst>
          </p:cNvPr>
          <p:cNvSpPr txBox="1"/>
          <p:nvPr/>
        </p:nvSpPr>
        <p:spPr>
          <a:xfrm>
            <a:off x="3673997" y="3662692"/>
            <a:ext cx="1828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400" b="1">
                <a:latin typeface="Times New Roman" panose="02020603050405020304" pitchFamily="18" charset="0"/>
                <a:ea typeface="华文楷体" panose="02010600040101010101" pitchFamily="2" charset="-122"/>
                <a:cs typeface="Times New Roman" panose="02020603050405020304" pitchFamily="18" charset="0"/>
              </a:defRPr>
            </a:lvl1pPr>
          </a:lstStyle>
          <a:p>
            <a:r>
              <a:rPr lang="zh-CN" altLang="en-US" dirty="0"/>
              <a:t>顺摆阶跃响应</a:t>
            </a:r>
          </a:p>
        </p:txBody>
      </p:sp>
      <p:pic>
        <p:nvPicPr>
          <p:cNvPr id="14" name="图片 13">
            <a:extLst>
              <a:ext uri="{FF2B5EF4-FFF2-40B4-BE49-F238E27FC236}">
                <a16:creationId xmlns:a16="http://schemas.microsoft.com/office/drawing/2014/main" id="{1D3E1250-4705-B5F5-C019-225CF798510B}"/>
              </a:ext>
            </a:extLst>
          </p:cNvPr>
          <p:cNvPicPr>
            <a:picLocks noChangeAspect="1"/>
          </p:cNvPicPr>
          <p:nvPr/>
        </p:nvPicPr>
        <p:blipFill>
          <a:blip r:embed="rId4"/>
          <a:stretch>
            <a:fillRect/>
          </a:stretch>
        </p:blipFill>
        <p:spPr>
          <a:xfrm>
            <a:off x="6196013" y="1352550"/>
            <a:ext cx="2880000" cy="2310142"/>
          </a:xfrm>
          <a:prstGeom prst="rect">
            <a:avLst/>
          </a:prstGeom>
        </p:spPr>
      </p:pic>
    </p:spTree>
    <p:extLst>
      <p:ext uri="{BB962C8B-B14F-4D97-AF65-F5344CB8AC3E}">
        <p14:creationId xmlns:p14="http://schemas.microsoft.com/office/powerpoint/2010/main" val="2833597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EAA93-8D04-7172-059E-31128B4F41E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1113BC6-37B4-8B38-F6E2-65BD7ECFE952}"/>
              </a:ext>
            </a:extLst>
          </p:cNvPr>
          <p:cNvPicPr>
            <a:picLocks noChangeAspect="1"/>
          </p:cNvPicPr>
          <p:nvPr/>
        </p:nvPicPr>
        <p:blipFill>
          <a:blip r:embed="rId3"/>
          <a:stretch>
            <a:fillRect/>
          </a:stretch>
        </p:blipFill>
        <p:spPr>
          <a:xfrm>
            <a:off x="91856" y="1352550"/>
            <a:ext cx="4320000" cy="2255593"/>
          </a:xfrm>
          <a:prstGeom prst="rect">
            <a:avLst/>
          </a:prstGeom>
        </p:spPr>
      </p:pic>
      <p:sp>
        <p:nvSpPr>
          <p:cNvPr id="11" name="Rectangle 2">
            <a:extLst>
              <a:ext uri="{FF2B5EF4-FFF2-40B4-BE49-F238E27FC236}">
                <a16:creationId xmlns:a16="http://schemas.microsoft.com/office/drawing/2014/main" id="{A16966D9-9D5D-A26B-43E5-4DBE628F24A8}"/>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2.</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系统建模与响应分析（可加页）</a:t>
            </a:r>
            <a:endParaRPr lang="zh-CN" altLang="en-US" sz="2400" b="1" kern="0" dirty="0">
              <a:solidFill>
                <a:srgbClr val="C00000"/>
              </a:solidFill>
              <a:latin typeface="+mj-lt"/>
              <a:ea typeface="+mj-ea"/>
              <a:cs typeface="+mj-cs"/>
            </a:endParaRPr>
          </a:p>
        </p:txBody>
      </p:sp>
      <p:sp>
        <p:nvSpPr>
          <p:cNvPr id="7172" name="Rectangle 3">
            <a:extLst>
              <a:ext uri="{FF2B5EF4-FFF2-40B4-BE49-F238E27FC236}">
                <a16:creationId xmlns:a16="http://schemas.microsoft.com/office/drawing/2014/main" id="{102ED308-6136-642C-1A32-143098BB6933}"/>
              </a:ext>
            </a:extLst>
          </p:cNvPr>
          <p:cNvSpPr txBox="1">
            <a:spLocks noChangeArrowheads="1"/>
          </p:cNvSpPr>
          <p:nvPr/>
        </p:nvSpPr>
        <p:spPr bwMode="auto">
          <a:xfrm>
            <a:off x="304800" y="666750"/>
            <a:ext cx="8610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仿真与实际响应结果比较</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给出每次辨识时的小车位移、摆杆角度、小车加速度</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控制量）曲线）</a:t>
            </a:r>
          </a:p>
        </p:txBody>
      </p:sp>
      <p:sp>
        <p:nvSpPr>
          <p:cNvPr id="7173" name="灯片编号占位符 3">
            <a:extLst>
              <a:ext uri="{FF2B5EF4-FFF2-40B4-BE49-F238E27FC236}">
                <a16:creationId xmlns:a16="http://schemas.microsoft.com/office/drawing/2014/main" id="{ACE3E799-7A93-53E2-5CE1-53F21DC0E6B8}"/>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84EDCF0-85C8-49F4-A073-DED54C0C0422}" type="slidenum">
              <a:rPr lang="zh-CN" altLang="en-US"/>
              <a:pPr/>
              <a:t>6</a:t>
            </a:fld>
            <a:endParaRPr lang="zh-CN" altLang="en-US"/>
          </a:p>
        </p:txBody>
      </p:sp>
      <p:sp>
        <p:nvSpPr>
          <p:cNvPr id="5" name="矩形 33">
            <a:extLst>
              <a:ext uri="{FF2B5EF4-FFF2-40B4-BE49-F238E27FC236}">
                <a16:creationId xmlns:a16="http://schemas.microsoft.com/office/drawing/2014/main" id="{BBC4BA4A-FC28-AB96-7250-EE52A14FD407}"/>
              </a:ext>
            </a:extLst>
          </p:cNvPr>
          <p:cNvSpPr>
            <a:spLocks noChangeArrowheads="1"/>
          </p:cNvSpPr>
          <p:nvPr/>
        </p:nvSpPr>
        <p:spPr bwMode="auto">
          <a:xfrm>
            <a:off x="956456" y="3638550"/>
            <a:ext cx="2590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实际测试波形</a:t>
            </a:r>
          </a:p>
        </p:txBody>
      </p:sp>
      <p:pic>
        <p:nvPicPr>
          <p:cNvPr id="8" name="图片 7">
            <a:extLst>
              <a:ext uri="{FF2B5EF4-FFF2-40B4-BE49-F238E27FC236}">
                <a16:creationId xmlns:a16="http://schemas.microsoft.com/office/drawing/2014/main" id="{6E2803DB-F13B-E40D-072A-A3FCF8B90DCC}"/>
              </a:ext>
            </a:extLst>
          </p:cNvPr>
          <p:cNvPicPr>
            <a:picLocks noChangeAspect="1"/>
          </p:cNvPicPr>
          <p:nvPr/>
        </p:nvPicPr>
        <p:blipFill>
          <a:blip r:embed="rId4"/>
          <a:stretch>
            <a:fillRect/>
          </a:stretch>
        </p:blipFill>
        <p:spPr>
          <a:xfrm>
            <a:off x="4604365" y="1373396"/>
            <a:ext cx="4320000" cy="2213900"/>
          </a:xfrm>
          <a:prstGeom prst="rect">
            <a:avLst/>
          </a:prstGeom>
        </p:spPr>
      </p:pic>
      <p:sp>
        <p:nvSpPr>
          <p:cNvPr id="10" name="矩形 33">
            <a:extLst>
              <a:ext uri="{FF2B5EF4-FFF2-40B4-BE49-F238E27FC236}">
                <a16:creationId xmlns:a16="http://schemas.microsoft.com/office/drawing/2014/main" id="{117FD86E-D1AB-9169-C89E-27FE62505106}"/>
              </a:ext>
            </a:extLst>
          </p:cNvPr>
          <p:cNvSpPr>
            <a:spLocks noChangeArrowheads="1"/>
          </p:cNvSpPr>
          <p:nvPr/>
        </p:nvSpPr>
        <p:spPr bwMode="auto">
          <a:xfrm>
            <a:off x="5468965" y="3638550"/>
            <a:ext cx="2590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仿真实测对比</a:t>
            </a:r>
          </a:p>
        </p:txBody>
      </p:sp>
      <p:sp>
        <p:nvSpPr>
          <p:cNvPr id="15" name="文本框 14">
            <a:extLst>
              <a:ext uri="{FF2B5EF4-FFF2-40B4-BE49-F238E27FC236}">
                <a16:creationId xmlns:a16="http://schemas.microsoft.com/office/drawing/2014/main" id="{CA0946AE-B2FC-570F-0FE1-884BE60C56B0}"/>
              </a:ext>
            </a:extLst>
          </p:cNvPr>
          <p:cNvSpPr txBox="1"/>
          <p:nvPr/>
        </p:nvSpPr>
        <p:spPr>
          <a:xfrm>
            <a:off x="152400" y="4021657"/>
            <a:ext cx="4572000" cy="369332"/>
          </a:xfrm>
          <a:prstGeom prst="rect">
            <a:avLst/>
          </a:prstGeom>
          <a:noFill/>
        </p:spPr>
        <p:txBody>
          <a:bodyPr wrap="square">
            <a:spAutoFit/>
          </a:bodyPr>
          <a:lstStyle/>
          <a:p>
            <a:r>
              <a:rPr lang="en-US" altLang="zh-CN" dirty="0"/>
              <a:t>1.</a:t>
            </a:r>
            <a:r>
              <a:rPr lang="zh-CN" altLang="en-US" dirty="0"/>
              <a:t>倒立摆线性化的前提条件是什么？</a:t>
            </a:r>
          </a:p>
        </p:txBody>
      </p:sp>
      <p:sp>
        <p:nvSpPr>
          <p:cNvPr id="17" name="文本框 16">
            <a:extLst>
              <a:ext uri="{FF2B5EF4-FFF2-40B4-BE49-F238E27FC236}">
                <a16:creationId xmlns:a16="http://schemas.microsoft.com/office/drawing/2014/main" id="{F8AD1B4F-FF27-5907-1142-3C8CCCB14B3F}"/>
              </a:ext>
            </a:extLst>
          </p:cNvPr>
          <p:cNvSpPr txBox="1"/>
          <p:nvPr/>
        </p:nvSpPr>
        <p:spPr>
          <a:xfrm>
            <a:off x="152400" y="4408022"/>
            <a:ext cx="7543800" cy="369332"/>
          </a:xfrm>
          <a:prstGeom prst="rect">
            <a:avLst/>
          </a:prstGeom>
          <a:noFill/>
        </p:spPr>
        <p:txBody>
          <a:bodyPr wrap="square">
            <a:spAutoFit/>
          </a:bodyPr>
          <a:lstStyle/>
          <a:p>
            <a:r>
              <a:rPr lang="en-US" altLang="zh-CN" dirty="0"/>
              <a:t>2.</a:t>
            </a:r>
            <a:r>
              <a:rPr lang="zh-CN" altLang="en-US" dirty="0"/>
              <a:t>为使得倒立摆、顺摆满足线性化要求，输入方波需满足什么条件？</a:t>
            </a:r>
          </a:p>
        </p:txBody>
      </p:sp>
    </p:spTree>
    <p:extLst>
      <p:ext uri="{BB962C8B-B14F-4D97-AF65-F5344CB8AC3E}">
        <p14:creationId xmlns:p14="http://schemas.microsoft.com/office/powerpoint/2010/main" val="2508721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6193B334-3CBC-4401-7FD2-38F2C5D70DC3}"/>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3.</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系统辨识（可加页）</a:t>
            </a:r>
            <a:endParaRPr lang="zh-CN" altLang="en-US" sz="2400" b="1" kern="0" dirty="0">
              <a:solidFill>
                <a:srgbClr val="C00000"/>
              </a:solidFill>
              <a:latin typeface="+mj-lt"/>
              <a:ea typeface="+mj-ea"/>
              <a:cs typeface="+mj-cs"/>
            </a:endParaRPr>
          </a:p>
        </p:txBody>
      </p:sp>
      <p:sp>
        <p:nvSpPr>
          <p:cNvPr id="8195" name="灯片编号占位符 3">
            <a:extLst>
              <a:ext uri="{FF2B5EF4-FFF2-40B4-BE49-F238E27FC236}">
                <a16:creationId xmlns:a16="http://schemas.microsoft.com/office/drawing/2014/main" id="{4F2C2D25-12B7-0161-B89E-B272022578F6}"/>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2514559-4335-432A-BC4B-651B78B6B58A}" type="slidenum">
              <a:rPr lang="zh-CN" altLang="en-US"/>
              <a:pPr/>
              <a:t>7</a:t>
            </a:fld>
            <a:endParaRPr lang="zh-CN" altLang="en-US"/>
          </a:p>
        </p:txBody>
      </p:sp>
      <p:sp>
        <p:nvSpPr>
          <p:cNvPr id="28" name="矩形 27">
            <a:extLst>
              <a:ext uri="{FF2B5EF4-FFF2-40B4-BE49-F238E27FC236}">
                <a16:creationId xmlns:a16="http://schemas.microsoft.com/office/drawing/2014/main" id="{8C5115E4-7E5D-60E7-0664-8DB998191145}"/>
              </a:ext>
            </a:extLst>
          </p:cNvPr>
          <p:cNvSpPr/>
          <p:nvPr/>
        </p:nvSpPr>
        <p:spPr>
          <a:xfrm>
            <a:off x="3657600" y="1276350"/>
            <a:ext cx="5334000" cy="33528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239" tIns="15120" rIns="30239" bIns="15120" anchor="ctr"/>
          <a:lstStyle/>
          <a:p>
            <a:pPr algn="ctr">
              <a:defRPr/>
            </a:pPr>
            <a:r>
              <a:rPr lang="en-US" altLang="zh-CN" sz="1200" dirty="0">
                <a:solidFill>
                  <a:schemeClr val="tx1"/>
                </a:solidFill>
                <a:latin typeface="宋体" panose="02010600030101010101" pitchFamily="2" charset="-122"/>
                <a:ea typeface="宋体" panose="02010600030101010101" pitchFamily="2" charset="-122"/>
              </a:rPr>
              <a:t>Pictures of comparisons</a:t>
            </a: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8197" name="Rectangle 3">
            <a:extLst>
              <a:ext uri="{FF2B5EF4-FFF2-40B4-BE49-F238E27FC236}">
                <a16:creationId xmlns:a16="http://schemas.microsoft.com/office/drawing/2014/main" id="{B0DBEF34-C80D-0C8F-5B22-D206976DB9D6}"/>
              </a:ext>
            </a:extLst>
          </p:cNvPr>
          <p:cNvSpPr txBox="1">
            <a:spLocks noChangeArrowheads="1"/>
          </p:cNvSpPr>
          <p:nvPr/>
        </p:nvSpPr>
        <p:spPr bwMode="auto">
          <a:xfrm>
            <a:off x="381000" y="666750"/>
            <a:ext cx="79248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时域系统辨识设计过程</a:t>
            </a:r>
            <a:endPar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频域系统辨识设计过程</a:t>
            </a:r>
            <a:r>
              <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选做</a:t>
            </a:r>
            <a:r>
              <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系统辨识的模型参数列表</a:t>
            </a:r>
            <a:endPar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仿真与实验结果（仿真真值比较，实验预测误差比较</a:t>
            </a:r>
            <a:r>
              <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结合课程理论知识，对实验结果的分析与思考</a:t>
            </a:r>
            <a:endPar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0017A-D86A-2197-0C45-BE38B208D071}"/>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18B06C6B-4503-0F84-563A-853CD2755089}"/>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3.</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系统辨识（可加页）</a:t>
            </a:r>
            <a:endParaRPr lang="zh-CN" altLang="en-US" sz="2400" b="1" kern="0" dirty="0">
              <a:solidFill>
                <a:srgbClr val="C00000"/>
              </a:solidFill>
              <a:latin typeface="+mj-lt"/>
              <a:ea typeface="+mj-ea"/>
              <a:cs typeface="+mj-cs"/>
            </a:endParaRPr>
          </a:p>
        </p:txBody>
      </p:sp>
      <p:sp>
        <p:nvSpPr>
          <p:cNvPr id="8195" name="灯片编号占位符 3">
            <a:extLst>
              <a:ext uri="{FF2B5EF4-FFF2-40B4-BE49-F238E27FC236}">
                <a16:creationId xmlns:a16="http://schemas.microsoft.com/office/drawing/2014/main" id="{64EA5983-0E2C-52B7-C2DB-B93639ED32F2}"/>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2514559-4335-432A-BC4B-651B78B6B58A}" type="slidenum">
              <a:rPr lang="zh-CN" altLang="en-US"/>
              <a:pPr/>
              <a:t>8</a:t>
            </a:fld>
            <a:endParaRPr lang="zh-CN" altLang="en-US"/>
          </a:p>
        </p:txBody>
      </p:sp>
      <p:sp>
        <p:nvSpPr>
          <p:cNvPr id="8197" name="Rectangle 3">
            <a:extLst>
              <a:ext uri="{FF2B5EF4-FFF2-40B4-BE49-F238E27FC236}">
                <a16:creationId xmlns:a16="http://schemas.microsoft.com/office/drawing/2014/main" id="{0B269ACA-5FFC-FF63-2C55-663ED7E3EA88}"/>
              </a:ext>
            </a:extLst>
          </p:cNvPr>
          <p:cNvSpPr txBox="1">
            <a:spLocks noChangeArrowheads="1"/>
          </p:cNvSpPr>
          <p:nvPr/>
        </p:nvSpPr>
        <p:spPr bwMode="auto">
          <a:xfrm>
            <a:off x="381000" y="666750"/>
            <a:ext cx="7924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时域系统辨识设计过程</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系统辨识的模型参数列表</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2" name="文本框 3">
            <a:extLst>
              <a:ext uri="{FF2B5EF4-FFF2-40B4-BE49-F238E27FC236}">
                <a16:creationId xmlns:a16="http://schemas.microsoft.com/office/drawing/2014/main" id="{76B51B4B-D45E-5031-66BD-8D033205A385}"/>
              </a:ext>
            </a:extLst>
          </p:cNvPr>
          <p:cNvSpPr txBox="1">
            <a:spLocks noChangeArrowheads="1"/>
          </p:cNvSpPr>
          <p:nvPr>
            <p:custDataLst>
              <p:tags r:id="rId1"/>
            </p:custDataLst>
          </p:nvPr>
        </p:nvSpPr>
        <p:spPr bwMode="auto">
          <a:xfrm>
            <a:off x="228600" y="1382553"/>
            <a:ext cx="447992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buFont typeface="Wingdings" panose="05000000000000000000" pitchFamily="2" charset="2"/>
              <a:buChar char="Ø"/>
            </a:pPr>
            <a:r>
              <a:rPr lang="zh-CN" altLang="en-US" b="1" dirty="0">
                <a:solidFill>
                  <a:srgbClr val="FF0000"/>
                </a:solidFill>
                <a:latin typeface="楷体" panose="02010609060101010101" pitchFamily="49" charset="-122"/>
                <a:ea typeface="楷体" panose="02010609060101010101" pitchFamily="49" charset="-122"/>
              </a:rPr>
              <a:t>第一步</a:t>
            </a:r>
            <a:r>
              <a:rPr lang="zh-CN" altLang="en-US" b="1" dirty="0">
                <a:solidFill>
                  <a:srgbClr val="FF0000"/>
                </a:solidFill>
                <a:latin typeface="楷体" panose="02010609060101010101" charset="-122"/>
                <a:ea typeface="楷体" panose="02010609060101010101" charset="-122"/>
              </a:rPr>
              <a:t>：确定系统模型与变量定义</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第二步：设计与选择激励信号</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第三步：实验数据采集与预处理</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第四步：系统辨识与参数估计</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第五步：模型验证与性能评估</a:t>
            </a:r>
          </a:p>
        </p:txBody>
      </p:sp>
      <p:pic>
        <p:nvPicPr>
          <p:cNvPr id="4" name="图片 3">
            <a:extLst>
              <a:ext uri="{FF2B5EF4-FFF2-40B4-BE49-F238E27FC236}">
                <a16:creationId xmlns:a16="http://schemas.microsoft.com/office/drawing/2014/main" id="{B7B00194-D4F5-39D0-4A2E-F671EBF35601}"/>
              </a:ext>
            </a:extLst>
          </p:cNvPr>
          <p:cNvPicPr>
            <a:picLocks noChangeAspect="1"/>
          </p:cNvPicPr>
          <p:nvPr/>
        </p:nvPicPr>
        <p:blipFill>
          <a:blip r:embed="rId3"/>
          <a:stretch>
            <a:fillRect/>
          </a:stretch>
        </p:blipFill>
        <p:spPr>
          <a:xfrm>
            <a:off x="4292518" y="742950"/>
            <a:ext cx="4615508" cy="4277430"/>
          </a:xfrm>
          <a:prstGeom prst="rect">
            <a:avLst/>
          </a:prstGeom>
        </p:spPr>
      </p:pic>
    </p:spTree>
    <p:extLst>
      <p:ext uri="{BB962C8B-B14F-4D97-AF65-F5344CB8AC3E}">
        <p14:creationId xmlns:p14="http://schemas.microsoft.com/office/powerpoint/2010/main" val="1092925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FE20E-E7A9-6A89-D4AC-CAF136BF617F}"/>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9C34A7D1-E6CC-C6B7-B4FF-450289D3153C}"/>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3.</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系统辨识（可加页）</a:t>
            </a:r>
            <a:endParaRPr lang="zh-CN" altLang="en-US" sz="2400" b="1" kern="0" dirty="0">
              <a:solidFill>
                <a:srgbClr val="C00000"/>
              </a:solidFill>
              <a:latin typeface="+mj-lt"/>
              <a:ea typeface="+mj-ea"/>
              <a:cs typeface="+mj-cs"/>
            </a:endParaRPr>
          </a:p>
        </p:txBody>
      </p:sp>
      <p:sp>
        <p:nvSpPr>
          <p:cNvPr id="8195" name="灯片编号占位符 3">
            <a:extLst>
              <a:ext uri="{FF2B5EF4-FFF2-40B4-BE49-F238E27FC236}">
                <a16:creationId xmlns:a16="http://schemas.microsoft.com/office/drawing/2014/main" id="{D1725ECC-F344-463A-BCD4-F7CFBAD1A01A}"/>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2514559-4335-432A-BC4B-651B78B6B58A}" type="slidenum">
              <a:rPr lang="zh-CN" altLang="en-US"/>
              <a:pPr/>
              <a:t>9</a:t>
            </a:fld>
            <a:endParaRPr lang="zh-CN" altLang="en-US"/>
          </a:p>
        </p:txBody>
      </p:sp>
      <p:sp>
        <p:nvSpPr>
          <p:cNvPr id="8197" name="Rectangle 3">
            <a:extLst>
              <a:ext uri="{FF2B5EF4-FFF2-40B4-BE49-F238E27FC236}">
                <a16:creationId xmlns:a16="http://schemas.microsoft.com/office/drawing/2014/main" id="{F41EC5BF-2A4B-A950-58F7-14FDFBC4FA23}"/>
              </a:ext>
            </a:extLst>
          </p:cNvPr>
          <p:cNvSpPr txBox="1">
            <a:spLocks noChangeArrowheads="1"/>
          </p:cNvSpPr>
          <p:nvPr/>
        </p:nvSpPr>
        <p:spPr bwMode="auto">
          <a:xfrm>
            <a:off x="381000" y="666750"/>
            <a:ext cx="7924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仿真与实验结果（仿真真值比较，实验预测误差比较）</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结合课程理论知识，对实验结果的分析与思考</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577D49CA-7D8C-3E8A-7BE0-E0BB39085693}"/>
              </a:ext>
            </a:extLst>
          </p:cNvPr>
          <p:cNvPicPr>
            <a:picLocks noChangeAspect="1"/>
          </p:cNvPicPr>
          <p:nvPr/>
        </p:nvPicPr>
        <p:blipFill>
          <a:blip r:embed="rId2"/>
          <a:stretch>
            <a:fillRect/>
          </a:stretch>
        </p:blipFill>
        <p:spPr>
          <a:xfrm>
            <a:off x="376012" y="1428750"/>
            <a:ext cx="3960000" cy="2517616"/>
          </a:xfrm>
          <a:prstGeom prst="rect">
            <a:avLst/>
          </a:prstGeom>
        </p:spPr>
      </p:pic>
      <p:sp>
        <p:nvSpPr>
          <p:cNvPr id="6" name="矩形 33">
            <a:extLst>
              <a:ext uri="{FF2B5EF4-FFF2-40B4-BE49-F238E27FC236}">
                <a16:creationId xmlns:a16="http://schemas.microsoft.com/office/drawing/2014/main" id="{8BD3C732-F82C-5B09-8482-04CCFB0ABF7B}"/>
              </a:ext>
            </a:extLst>
          </p:cNvPr>
          <p:cNvSpPr>
            <a:spLocks noChangeArrowheads="1"/>
          </p:cNvSpPr>
          <p:nvPr/>
        </p:nvSpPr>
        <p:spPr bwMode="auto">
          <a:xfrm>
            <a:off x="1060612" y="4095750"/>
            <a:ext cx="2590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实际测试波形</a:t>
            </a:r>
          </a:p>
        </p:txBody>
      </p:sp>
      <p:pic>
        <p:nvPicPr>
          <p:cNvPr id="8" name="图片 7">
            <a:extLst>
              <a:ext uri="{FF2B5EF4-FFF2-40B4-BE49-F238E27FC236}">
                <a16:creationId xmlns:a16="http://schemas.microsoft.com/office/drawing/2014/main" id="{1FB2E4F1-82CA-A2B9-E2A8-8BB085E00DA3}"/>
              </a:ext>
            </a:extLst>
          </p:cNvPr>
          <p:cNvPicPr>
            <a:picLocks noChangeAspect="1"/>
          </p:cNvPicPr>
          <p:nvPr/>
        </p:nvPicPr>
        <p:blipFill>
          <a:blip r:embed="rId3"/>
          <a:stretch>
            <a:fillRect/>
          </a:stretch>
        </p:blipFill>
        <p:spPr>
          <a:xfrm>
            <a:off x="4807988" y="1428750"/>
            <a:ext cx="3960000" cy="2494412"/>
          </a:xfrm>
          <a:prstGeom prst="rect">
            <a:avLst/>
          </a:prstGeom>
        </p:spPr>
      </p:pic>
      <p:sp>
        <p:nvSpPr>
          <p:cNvPr id="9" name="矩形 33">
            <a:extLst>
              <a:ext uri="{FF2B5EF4-FFF2-40B4-BE49-F238E27FC236}">
                <a16:creationId xmlns:a16="http://schemas.microsoft.com/office/drawing/2014/main" id="{6F2B868A-B186-8B4E-40D1-E6ED35A6FF13}"/>
              </a:ext>
            </a:extLst>
          </p:cNvPr>
          <p:cNvSpPr>
            <a:spLocks noChangeArrowheads="1"/>
          </p:cNvSpPr>
          <p:nvPr/>
        </p:nvSpPr>
        <p:spPr bwMode="auto">
          <a:xfrm>
            <a:off x="5492588" y="4095750"/>
            <a:ext cx="2590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仿真实测对比</a:t>
            </a:r>
          </a:p>
        </p:txBody>
      </p:sp>
    </p:spTree>
    <p:extLst>
      <p:ext uri="{BB962C8B-B14F-4D97-AF65-F5344CB8AC3E}">
        <p14:creationId xmlns:p14="http://schemas.microsoft.com/office/powerpoint/2010/main" val="4141500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D2BD6-1F72-5126-5876-087983BA696D}"/>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787FA9D6-3FFC-B0D7-9017-721A3157A37E}"/>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3.</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系统辨识（可加页）</a:t>
            </a:r>
            <a:endParaRPr lang="zh-CN" altLang="en-US" sz="2400" b="1" kern="0" dirty="0">
              <a:solidFill>
                <a:srgbClr val="C00000"/>
              </a:solidFill>
              <a:latin typeface="+mj-lt"/>
              <a:ea typeface="+mj-ea"/>
              <a:cs typeface="+mj-cs"/>
            </a:endParaRPr>
          </a:p>
        </p:txBody>
      </p:sp>
      <p:sp>
        <p:nvSpPr>
          <p:cNvPr id="8195" name="灯片编号占位符 3">
            <a:extLst>
              <a:ext uri="{FF2B5EF4-FFF2-40B4-BE49-F238E27FC236}">
                <a16:creationId xmlns:a16="http://schemas.microsoft.com/office/drawing/2014/main" id="{7160F998-4D83-2C62-7858-1DC3FEE6DA06}"/>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2514559-4335-432A-BC4B-651B78B6B58A}" type="slidenum">
              <a:rPr lang="zh-CN" altLang="en-US"/>
              <a:pPr/>
              <a:t>10</a:t>
            </a:fld>
            <a:endParaRPr lang="zh-CN" altLang="en-US"/>
          </a:p>
        </p:txBody>
      </p:sp>
      <p:sp>
        <p:nvSpPr>
          <p:cNvPr id="8197" name="Rectangle 3">
            <a:extLst>
              <a:ext uri="{FF2B5EF4-FFF2-40B4-BE49-F238E27FC236}">
                <a16:creationId xmlns:a16="http://schemas.microsoft.com/office/drawing/2014/main" id="{4A7AD584-746B-6685-B2D3-E22294298A7C}"/>
              </a:ext>
            </a:extLst>
          </p:cNvPr>
          <p:cNvSpPr txBox="1">
            <a:spLocks noChangeArrowheads="1"/>
          </p:cNvSpPr>
          <p:nvPr/>
        </p:nvSpPr>
        <p:spPr bwMode="auto">
          <a:xfrm>
            <a:off x="381000" y="666750"/>
            <a:ext cx="7924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仿真与实验结果（仿真真值比较，实验预测误差比较）</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结合课程理论知识，对实验结果的分析与思考</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9" name="矩形 33">
            <a:extLst>
              <a:ext uri="{FF2B5EF4-FFF2-40B4-BE49-F238E27FC236}">
                <a16:creationId xmlns:a16="http://schemas.microsoft.com/office/drawing/2014/main" id="{8D2613B0-3255-127D-8C5E-3F6B71ABAD9D}"/>
              </a:ext>
            </a:extLst>
          </p:cNvPr>
          <p:cNvSpPr>
            <a:spLocks noChangeArrowheads="1"/>
          </p:cNvSpPr>
          <p:nvPr/>
        </p:nvSpPr>
        <p:spPr bwMode="auto">
          <a:xfrm>
            <a:off x="651243" y="4705350"/>
            <a:ext cx="32220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不同滤波截止频率辨识结果对比</a:t>
            </a:r>
          </a:p>
        </p:txBody>
      </p:sp>
      <p:pic>
        <p:nvPicPr>
          <p:cNvPr id="12" name="图片 11">
            <a:extLst>
              <a:ext uri="{FF2B5EF4-FFF2-40B4-BE49-F238E27FC236}">
                <a16:creationId xmlns:a16="http://schemas.microsoft.com/office/drawing/2014/main" id="{02A661D1-E15B-56D2-DD35-6FA4968C9A28}"/>
              </a:ext>
            </a:extLst>
          </p:cNvPr>
          <p:cNvPicPr>
            <a:picLocks noChangeAspect="1"/>
          </p:cNvPicPr>
          <p:nvPr/>
        </p:nvPicPr>
        <p:blipFill>
          <a:blip r:embed="rId2"/>
          <a:stretch>
            <a:fillRect/>
          </a:stretch>
        </p:blipFill>
        <p:spPr>
          <a:xfrm>
            <a:off x="333524" y="1954924"/>
            <a:ext cx="3960000" cy="2623022"/>
          </a:xfrm>
          <a:prstGeom prst="rect">
            <a:avLst/>
          </a:prstGeom>
        </p:spPr>
      </p:pic>
      <p:pic>
        <p:nvPicPr>
          <p:cNvPr id="3" name="图片 2">
            <a:extLst>
              <a:ext uri="{FF2B5EF4-FFF2-40B4-BE49-F238E27FC236}">
                <a16:creationId xmlns:a16="http://schemas.microsoft.com/office/drawing/2014/main" id="{309A27B5-5C87-CD1F-EB1C-FFBDC4993598}"/>
              </a:ext>
            </a:extLst>
          </p:cNvPr>
          <p:cNvPicPr>
            <a:picLocks noChangeAspect="1"/>
          </p:cNvPicPr>
          <p:nvPr/>
        </p:nvPicPr>
        <p:blipFill>
          <a:blip r:embed="rId3"/>
          <a:stretch>
            <a:fillRect/>
          </a:stretch>
        </p:blipFill>
        <p:spPr>
          <a:xfrm>
            <a:off x="4953000" y="1962150"/>
            <a:ext cx="3960000" cy="2608571"/>
          </a:xfrm>
          <a:prstGeom prst="rect">
            <a:avLst/>
          </a:prstGeom>
        </p:spPr>
      </p:pic>
      <p:sp>
        <p:nvSpPr>
          <p:cNvPr id="4" name="矩形 33">
            <a:extLst>
              <a:ext uri="{FF2B5EF4-FFF2-40B4-BE49-F238E27FC236}">
                <a16:creationId xmlns:a16="http://schemas.microsoft.com/office/drawing/2014/main" id="{57761F3A-D4ED-C393-2302-7E7A082F5B4B}"/>
              </a:ext>
            </a:extLst>
          </p:cNvPr>
          <p:cNvSpPr>
            <a:spLocks noChangeArrowheads="1"/>
          </p:cNvSpPr>
          <p:nvPr/>
        </p:nvSpPr>
        <p:spPr bwMode="auto">
          <a:xfrm>
            <a:off x="5339621" y="4705350"/>
            <a:ext cx="32220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400" b="1" dirty="0">
                <a:latin typeface="Times New Roman" panose="02020603050405020304" pitchFamily="18" charset="0"/>
                <a:ea typeface="华文楷体" panose="02010600040101010101" pitchFamily="2" charset="-122"/>
                <a:cs typeface="Times New Roman" panose="02020603050405020304" pitchFamily="18" charset="0"/>
              </a:rPr>
              <a:t>RMSE</a:t>
            </a: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和拟合度随截止频率的变化</a:t>
            </a:r>
          </a:p>
        </p:txBody>
      </p:sp>
      <p:sp>
        <p:nvSpPr>
          <p:cNvPr id="10" name="文本框 9">
            <a:extLst>
              <a:ext uri="{FF2B5EF4-FFF2-40B4-BE49-F238E27FC236}">
                <a16:creationId xmlns:a16="http://schemas.microsoft.com/office/drawing/2014/main" id="{737315AF-E4BF-DD27-C941-7A13DD1ECD11}"/>
              </a:ext>
            </a:extLst>
          </p:cNvPr>
          <p:cNvSpPr txBox="1"/>
          <p:nvPr/>
        </p:nvSpPr>
        <p:spPr>
          <a:xfrm>
            <a:off x="381000" y="1404758"/>
            <a:ext cx="457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285750" indent="-285750">
              <a:buFont typeface="Wingdings" panose="05000000000000000000" pitchFamily="2" charset="2"/>
              <a:buChar char="Ø"/>
              <a:defRPr b="1">
                <a:solidFill>
                  <a:srgbClr val="FF0000"/>
                </a:solidFill>
                <a:latin typeface="楷体" panose="02010609060101010101" pitchFamily="49" charset="-122"/>
                <a:ea typeface="楷体" panose="02010609060101010101" pitchFamily="49"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t>保持输入激励相同，改变滤波截止频率</a:t>
            </a:r>
          </a:p>
        </p:txBody>
      </p:sp>
    </p:spTree>
    <p:extLst>
      <p:ext uri="{BB962C8B-B14F-4D97-AF65-F5344CB8AC3E}">
        <p14:creationId xmlns:p14="http://schemas.microsoft.com/office/powerpoint/2010/main" val="258141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7CAD4-9DD8-BA1B-B675-FFD11618CB93}"/>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8F62FBCC-B4DA-D2E6-106E-9EBED1B4C486}"/>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3.</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系统辨识（可加页）</a:t>
            </a:r>
            <a:endParaRPr lang="zh-CN" altLang="en-US" sz="2400" b="1" kern="0" dirty="0">
              <a:solidFill>
                <a:srgbClr val="C00000"/>
              </a:solidFill>
              <a:latin typeface="+mj-lt"/>
              <a:ea typeface="+mj-ea"/>
              <a:cs typeface="+mj-cs"/>
            </a:endParaRPr>
          </a:p>
        </p:txBody>
      </p:sp>
      <p:sp>
        <p:nvSpPr>
          <p:cNvPr id="8195" name="灯片编号占位符 3">
            <a:extLst>
              <a:ext uri="{FF2B5EF4-FFF2-40B4-BE49-F238E27FC236}">
                <a16:creationId xmlns:a16="http://schemas.microsoft.com/office/drawing/2014/main" id="{35AE8399-93A0-047F-2460-1596B80E94B1}"/>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2514559-4335-432A-BC4B-651B78B6B58A}" type="slidenum">
              <a:rPr lang="zh-CN" altLang="en-US"/>
              <a:pPr/>
              <a:t>11</a:t>
            </a:fld>
            <a:endParaRPr lang="zh-CN" altLang="en-US"/>
          </a:p>
        </p:txBody>
      </p:sp>
      <p:sp>
        <p:nvSpPr>
          <p:cNvPr id="8197" name="Rectangle 3">
            <a:extLst>
              <a:ext uri="{FF2B5EF4-FFF2-40B4-BE49-F238E27FC236}">
                <a16:creationId xmlns:a16="http://schemas.microsoft.com/office/drawing/2014/main" id="{25213342-B845-00F9-4F4A-C54503E1788A}"/>
              </a:ext>
            </a:extLst>
          </p:cNvPr>
          <p:cNvSpPr txBox="1">
            <a:spLocks noChangeArrowheads="1"/>
          </p:cNvSpPr>
          <p:nvPr/>
        </p:nvSpPr>
        <p:spPr bwMode="auto">
          <a:xfrm>
            <a:off x="381000" y="666750"/>
            <a:ext cx="7924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仿真与实验结果（仿真真值比较，实验预测误差比较）</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结合课程理论知识，对实验结果的分析与思考</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9" name="矩形 33">
            <a:extLst>
              <a:ext uri="{FF2B5EF4-FFF2-40B4-BE49-F238E27FC236}">
                <a16:creationId xmlns:a16="http://schemas.microsoft.com/office/drawing/2014/main" id="{25DC9154-801A-AC4D-E7EE-83A76B3D8B63}"/>
              </a:ext>
            </a:extLst>
          </p:cNvPr>
          <p:cNvSpPr>
            <a:spLocks noChangeArrowheads="1"/>
          </p:cNvSpPr>
          <p:nvPr/>
        </p:nvSpPr>
        <p:spPr bwMode="auto">
          <a:xfrm>
            <a:off x="651243" y="4705350"/>
            <a:ext cx="32220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不同截取段辨识结果对比</a:t>
            </a:r>
          </a:p>
        </p:txBody>
      </p:sp>
      <p:sp>
        <p:nvSpPr>
          <p:cNvPr id="4" name="矩形 33">
            <a:extLst>
              <a:ext uri="{FF2B5EF4-FFF2-40B4-BE49-F238E27FC236}">
                <a16:creationId xmlns:a16="http://schemas.microsoft.com/office/drawing/2014/main" id="{E75B8CFC-CC0C-D80A-12C0-80507561E2A7}"/>
              </a:ext>
            </a:extLst>
          </p:cNvPr>
          <p:cNvSpPr>
            <a:spLocks noChangeArrowheads="1"/>
          </p:cNvSpPr>
          <p:nvPr/>
        </p:nvSpPr>
        <p:spPr bwMode="auto">
          <a:xfrm>
            <a:off x="5225356" y="4705350"/>
            <a:ext cx="32220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不同截取段角度分布</a:t>
            </a:r>
          </a:p>
        </p:txBody>
      </p:sp>
      <p:sp>
        <p:nvSpPr>
          <p:cNvPr id="10" name="文本框 9">
            <a:extLst>
              <a:ext uri="{FF2B5EF4-FFF2-40B4-BE49-F238E27FC236}">
                <a16:creationId xmlns:a16="http://schemas.microsoft.com/office/drawing/2014/main" id="{5F96E8BD-10D5-81E9-2F83-98ED179E5E3C}"/>
              </a:ext>
            </a:extLst>
          </p:cNvPr>
          <p:cNvSpPr txBox="1"/>
          <p:nvPr/>
        </p:nvSpPr>
        <p:spPr>
          <a:xfrm>
            <a:off x="381000" y="1404758"/>
            <a:ext cx="457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285750" indent="-285750">
              <a:buFont typeface="Wingdings" panose="05000000000000000000" pitchFamily="2" charset="2"/>
              <a:buChar char="Ø"/>
              <a:defRPr b="1">
                <a:solidFill>
                  <a:srgbClr val="FF0000"/>
                </a:solidFill>
                <a:latin typeface="楷体" panose="02010609060101010101" pitchFamily="49" charset="-122"/>
                <a:ea typeface="楷体" panose="02010609060101010101" pitchFamily="49"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t>保持输入激励相同，改变数据截取</a:t>
            </a:r>
          </a:p>
        </p:txBody>
      </p:sp>
      <p:pic>
        <p:nvPicPr>
          <p:cNvPr id="14" name="图片 13">
            <a:extLst>
              <a:ext uri="{FF2B5EF4-FFF2-40B4-BE49-F238E27FC236}">
                <a16:creationId xmlns:a16="http://schemas.microsoft.com/office/drawing/2014/main" id="{BD3D8E33-E04C-1CC8-51E7-A7061AF8783E}"/>
              </a:ext>
            </a:extLst>
          </p:cNvPr>
          <p:cNvPicPr>
            <a:picLocks noChangeAspect="1"/>
          </p:cNvPicPr>
          <p:nvPr/>
        </p:nvPicPr>
        <p:blipFill>
          <a:blip r:embed="rId2"/>
          <a:stretch>
            <a:fillRect/>
          </a:stretch>
        </p:blipFill>
        <p:spPr>
          <a:xfrm>
            <a:off x="4747800" y="2038350"/>
            <a:ext cx="4320000" cy="2379999"/>
          </a:xfrm>
          <a:prstGeom prst="rect">
            <a:avLst/>
          </a:prstGeom>
        </p:spPr>
      </p:pic>
      <p:pic>
        <p:nvPicPr>
          <p:cNvPr id="16" name="图片 15">
            <a:extLst>
              <a:ext uri="{FF2B5EF4-FFF2-40B4-BE49-F238E27FC236}">
                <a16:creationId xmlns:a16="http://schemas.microsoft.com/office/drawing/2014/main" id="{503F8557-F211-359D-8161-285C52907AB9}"/>
              </a:ext>
            </a:extLst>
          </p:cNvPr>
          <p:cNvPicPr>
            <a:picLocks noChangeAspect="1"/>
          </p:cNvPicPr>
          <p:nvPr/>
        </p:nvPicPr>
        <p:blipFill>
          <a:blip r:embed="rId3"/>
          <a:stretch>
            <a:fillRect/>
          </a:stretch>
        </p:blipFill>
        <p:spPr>
          <a:xfrm>
            <a:off x="76200" y="2190390"/>
            <a:ext cx="4320000" cy="2048276"/>
          </a:xfrm>
          <a:prstGeom prst="rect">
            <a:avLst/>
          </a:prstGeom>
        </p:spPr>
      </p:pic>
    </p:spTree>
    <p:extLst>
      <p:ext uri="{BB962C8B-B14F-4D97-AF65-F5344CB8AC3E}">
        <p14:creationId xmlns:p14="http://schemas.microsoft.com/office/powerpoint/2010/main" val="1199875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256D4-CE12-0AA8-32F1-178D10D287A9}"/>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CAF169DB-74D3-4367-D6EE-1E0D086D8993}"/>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3.</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系统辨识（可加页）</a:t>
            </a:r>
            <a:endParaRPr lang="zh-CN" altLang="en-US" sz="2400" b="1" kern="0" dirty="0">
              <a:solidFill>
                <a:srgbClr val="C00000"/>
              </a:solidFill>
              <a:latin typeface="+mj-lt"/>
              <a:ea typeface="+mj-ea"/>
              <a:cs typeface="+mj-cs"/>
            </a:endParaRPr>
          </a:p>
        </p:txBody>
      </p:sp>
      <p:sp>
        <p:nvSpPr>
          <p:cNvPr id="8195" name="灯片编号占位符 3">
            <a:extLst>
              <a:ext uri="{FF2B5EF4-FFF2-40B4-BE49-F238E27FC236}">
                <a16:creationId xmlns:a16="http://schemas.microsoft.com/office/drawing/2014/main" id="{51465BFD-49FF-EAC1-B455-DA83672BEA4C}"/>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2514559-4335-432A-BC4B-651B78B6B58A}" type="slidenum">
              <a:rPr lang="zh-CN" altLang="en-US"/>
              <a:pPr/>
              <a:t>12</a:t>
            </a:fld>
            <a:endParaRPr lang="zh-CN" altLang="en-US"/>
          </a:p>
        </p:txBody>
      </p:sp>
      <p:sp>
        <p:nvSpPr>
          <p:cNvPr id="8197" name="Rectangle 3">
            <a:extLst>
              <a:ext uri="{FF2B5EF4-FFF2-40B4-BE49-F238E27FC236}">
                <a16:creationId xmlns:a16="http://schemas.microsoft.com/office/drawing/2014/main" id="{B3AA78CA-AFA6-F50E-3CB6-5C8082CBC50B}"/>
              </a:ext>
            </a:extLst>
          </p:cNvPr>
          <p:cNvSpPr txBox="1">
            <a:spLocks noChangeArrowheads="1"/>
          </p:cNvSpPr>
          <p:nvPr/>
        </p:nvSpPr>
        <p:spPr bwMode="auto">
          <a:xfrm>
            <a:off x="381000" y="666750"/>
            <a:ext cx="7924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仿真与实验结果（仿真真值比较，实验预测误差比较）</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结合课程理论知识，对实验结果的分析与思考</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FDD36229-8F75-DA9E-89CD-770A7052B17F}"/>
              </a:ext>
            </a:extLst>
          </p:cNvPr>
          <p:cNvPicPr>
            <a:picLocks noChangeAspect="1"/>
          </p:cNvPicPr>
          <p:nvPr/>
        </p:nvPicPr>
        <p:blipFill>
          <a:blip r:embed="rId2"/>
          <a:stretch>
            <a:fillRect/>
          </a:stretch>
        </p:blipFill>
        <p:spPr>
          <a:xfrm>
            <a:off x="0" y="1647201"/>
            <a:ext cx="9144000" cy="2763499"/>
          </a:xfrm>
          <a:prstGeom prst="rect">
            <a:avLst/>
          </a:prstGeom>
        </p:spPr>
      </p:pic>
    </p:spTree>
    <p:extLst>
      <p:ext uri="{BB962C8B-B14F-4D97-AF65-F5344CB8AC3E}">
        <p14:creationId xmlns:p14="http://schemas.microsoft.com/office/powerpoint/2010/main" val="4006087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12282C6-F5BD-EB15-AA77-DF0FD9E2B0D3}"/>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6A17AFD0-7671-3767-1E36-29BAECBD483D}"/>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4.</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倒立摆平衡控制设计（可加页）</a:t>
            </a: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2400" b="1" kern="0" dirty="0">
              <a:solidFill>
                <a:srgbClr val="C00000"/>
              </a:solidFill>
              <a:latin typeface="+mj-lt"/>
              <a:ea typeface="+mj-ea"/>
              <a:cs typeface="+mj-cs"/>
            </a:endParaRPr>
          </a:p>
        </p:txBody>
      </p:sp>
      <p:sp>
        <p:nvSpPr>
          <p:cNvPr id="9219" name="灯片编号占位符 3">
            <a:extLst>
              <a:ext uri="{FF2B5EF4-FFF2-40B4-BE49-F238E27FC236}">
                <a16:creationId xmlns:a16="http://schemas.microsoft.com/office/drawing/2014/main" id="{EC779899-862C-97AB-E851-56EB88DECBA1}"/>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E822812-0E83-475B-A8BC-98E35B33C901}" type="slidenum">
              <a:rPr lang="zh-CN" altLang="en-US"/>
              <a:pPr/>
              <a:t>13</a:t>
            </a:fld>
            <a:endParaRPr lang="zh-CN" altLang="en-US"/>
          </a:p>
        </p:txBody>
      </p:sp>
      <p:sp>
        <p:nvSpPr>
          <p:cNvPr id="28" name="矩形 27">
            <a:extLst>
              <a:ext uri="{FF2B5EF4-FFF2-40B4-BE49-F238E27FC236}">
                <a16:creationId xmlns:a16="http://schemas.microsoft.com/office/drawing/2014/main" id="{D69F6530-5C13-41FA-6C35-784A99B49FEB}"/>
              </a:ext>
            </a:extLst>
          </p:cNvPr>
          <p:cNvSpPr/>
          <p:nvPr/>
        </p:nvSpPr>
        <p:spPr>
          <a:xfrm>
            <a:off x="3733800" y="1885950"/>
            <a:ext cx="4876800" cy="28956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239" tIns="15120" rIns="30239" bIns="15120" anchor="ctr"/>
          <a:lstStyle/>
          <a:p>
            <a:pPr algn="ctr">
              <a:defRPr/>
            </a:pPr>
            <a:r>
              <a:rPr lang="en-US" altLang="zh-CN" sz="1200" dirty="0">
                <a:solidFill>
                  <a:schemeClr val="tx1"/>
                </a:solidFill>
                <a:latin typeface="宋体" panose="02010600030101010101" pitchFamily="2" charset="-122"/>
                <a:ea typeface="宋体" panose="02010600030101010101" pitchFamily="2" charset="-122"/>
              </a:rPr>
              <a:t>Pictures of system identifications</a:t>
            </a:r>
            <a:endParaRPr lang="zh-CN" altLang="en-US" sz="1200" dirty="0">
              <a:solidFill>
                <a:schemeClr val="tx1"/>
              </a:solidFill>
              <a:latin typeface="宋体" panose="02010600030101010101" pitchFamily="2" charset="-122"/>
              <a:ea typeface="宋体" panose="02010600030101010101" pitchFamily="2" charset="-122"/>
            </a:endParaRPr>
          </a:p>
        </p:txBody>
      </p:sp>
      <p:sp>
        <p:nvSpPr>
          <p:cNvPr id="9221" name="Rectangle 3">
            <a:extLst>
              <a:ext uri="{FF2B5EF4-FFF2-40B4-BE49-F238E27FC236}">
                <a16:creationId xmlns:a16="http://schemas.microsoft.com/office/drawing/2014/main" id="{D78D1EE7-F7B6-A7C3-25BD-380F5A60F5FA}"/>
              </a:ext>
            </a:extLst>
          </p:cNvPr>
          <p:cNvSpPr txBox="1">
            <a:spLocks noChangeArrowheads="1"/>
          </p:cNvSpPr>
          <p:nvPr/>
        </p:nvSpPr>
        <p:spPr bwMode="auto">
          <a:xfrm>
            <a:off x="304800" y="66675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极点配置控制器设计过程</a:t>
            </a:r>
            <a:endPar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全状态反馈控制设计</a:t>
            </a:r>
            <a:endPar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平衡控制仿真和实验结果</a:t>
            </a:r>
            <a:r>
              <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给出每次控制时的小车位移、摆杆角度、小车加速度</a:t>
            </a:r>
            <a:r>
              <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控制量）曲线）</a:t>
            </a:r>
            <a:endPar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干扰影响实验</a:t>
            </a:r>
            <a:endPar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结合课程理论知识，对实验结果的分析和思考</a:t>
            </a:r>
            <a:endParaRPr lang="en-US" altLang="zh-CN" b="1">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endParaRPr kumimoji="1" lang="en-US" altLang="zh-CN" sz="1200" b="1">
              <a:latin typeface="楷体_GB2312" panose="02010609030101010101" pitchFamily="49" charset="-122"/>
              <a:ea typeface="楷体_GB2312" panose="02010609030101010101" pitchFamily="49" charset="-122"/>
              <a:cs typeface="Times New Roman" panose="02020603050405020304" pitchFamily="18" charset="0"/>
            </a:endParaRPr>
          </a:p>
        </p:txBody>
      </p:sp>
    </p:spTree>
    <p:extLst>
      <p:ext uri="{BB962C8B-B14F-4D97-AF65-F5344CB8AC3E}">
        <p14:creationId xmlns:p14="http://schemas.microsoft.com/office/powerpoint/2010/main" val="37711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B5068F19-24F7-7E18-B342-F22C9BD10B75}"/>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4.</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倒立摆平衡控制设计（可加页）</a:t>
            </a: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2400" b="1" kern="0" dirty="0">
              <a:solidFill>
                <a:srgbClr val="C00000"/>
              </a:solidFill>
              <a:latin typeface="+mj-lt"/>
              <a:ea typeface="+mj-ea"/>
              <a:cs typeface="+mj-cs"/>
            </a:endParaRPr>
          </a:p>
        </p:txBody>
      </p:sp>
      <p:sp>
        <p:nvSpPr>
          <p:cNvPr id="9219" name="灯片编号占位符 3">
            <a:extLst>
              <a:ext uri="{FF2B5EF4-FFF2-40B4-BE49-F238E27FC236}">
                <a16:creationId xmlns:a16="http://schemas.microsoft.com/office/drawing/2014/main" id="{70D491BB-D0D6-3CD1-659A-F8D7D83FF3D7}"/>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E822812-0E83-475B-A8BC-98E35B33C901}" type="slidenum">
              <a:rPr lang="zh-CN" altLang="en-US"/>
              <a:pPr/>
              <a:t>14</a:t>
            </a:fld>
            <a:endParaRPr lang="zh-CN" altLang="en-US"/>
          </a:p>
        </p:txBody>
      </p:sp>
      <p:sp>
        <p:nvSpPr>
          <p:cNvPr id="9221" name="Rectangle 3">
            <a:extLst>
              <a:ext uri="{FF2B5EF4-FFF2-40B4-BE49-F238E27FC236}">
                <a16:creationId xmlns:a16="http://schemas.microsoft.com/office/drawing/2014/main" id="{018DDA0C-1257-5562-A0E7-7110BD0C05A2}"/>
              </a:ext>
            </a:extLst>
          </p:cNvPr>
          <p:cNvSpPr txBox="1">
            <a:spLocks noChangeArrowheads="1"/>
          </p:cNvSpPr>
          <p:nvPr/>
        </p:nvSpPr>
        <p:spPr bwMode="auto">
          <a:xfrm>
            <a:off x="225323" y="2139612"/>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极点配置控制器设计过程</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2" name="文本框 3">
            <a:extLst>
              <a:ext uri="{FF2B5EF4-FFF2-40B4-BE49-F238E27FC236}">
                <a16:creationId xmlns:a16="http://schemas.microsoft.com/office/drawing/2014/main" id="{3722E81F-301D-8D56-FC49-AF4917602945}"/>
              </a:ext>
            </a:extLst>
          </p:cNvPr>
          <p:cNvSpPr txBox="1">
            <a:spLocks noChangeArrowheads="1"/>
          </p:cNvSpPr>
          <p:nvPr>
            <p:custDataLst>
              <p:tags r:id="rId1"/>
            </p:custDataLst>
          </p:nvPr>
        </p:nvSpPr>
        <p:spPr bwMode="auto">
          <a:xfrm>
            <a:off x="228600" y="2530018"/>
            <a:ext cx="49530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buFont typeface="Wingdings" panose="05000000000000000000" pitchFamily="2" charset="2"/>
              <a:buChar char="Ø"/>
            </a:pPr>
            <a:r>
              <a:rPr lang="zh-CN" altLang="en-US" b="1" dirty="0">
                <a:solidFill>
                  <a:srgbClr val="FF0000"/>
                </a:solidFill>
                <a:latin typeface="楷体" panose="02010609060101010101" pitchFamily="49" charset="-122"/>
                <a:ea typeface="楷体" panose="02010609060101010101" pitchFamily="49" charset="-122"/>
              </a:rPr>
              <a:t>第一步</a:t>
            </a:r>
            <a:r>
              <a:rPr lang="zh-CN" altLang="en-US" b="1" dirty="0">
                <a:solidFill>
                  <a:srgbClr val="FF0000"/>
                </a:solidFill>
                <a:latin typeface="楷体" panose="02010609060101010101" charset="-122"/>
                <a:ea typeface="楷体" panose="02010609060101010101" charset="-122"/>
              </a:rPr>
              <a:t>：建立闭环控制仿真模型</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第二步：确定期望动态性能参数</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第三步：确定主导极点位置</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第四步：求取特征方程与控制器参数</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第五步：系统仿真验证（连续域与离散域）</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第六步：控制器程序部署与实物实现</a:t>
            </a:r>
            <a:endParaRPr lang="zh-CN"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第七步：实验测试与性能评估</a:t>
            </a:r>
            <a:endParaRPr lang="zh-CN" altLang="zh-CN" b="1" dirty="0">
              <a:solidFill>
                <a:srgbClr val="FF0000"/>
              </a:solidFill>
              <a:latin typeface="楷体" panose="02010609060101010101" charset="-122"/>
              <a:ea typeface="楷体" panose="02010609060101010101" charset="-122"/>
            </a:endParaRPr>
          </a:p>
        </p:txBody>
      </p:sp>
      <p:sp>
        <p:nvSpPr>
          <p:cNvPr id="3" name="文本框 3">
            <a:extLst>
              <a:ext uri="{FF2B5EF4-FFF2-40B4-BE49-F238E27FC236}">
                <a16:creationId xmlns:a16="http://schemas.microsoft.com/office/drawing/2014/main" id="{B03A3EF3-3659-248E-00DD-58724585DFE8}"/>
              </a:ext>
            </a:extLst>
          </p:cNvPr>
          <p:cNvSpPr txBox="1">
            <a:spLocks noChangeArrowheads="1"/>
          </p:cNvSpPr>
          <p:nvPr>
            <p:custDataLst>
              <p:tags r:id="rId2"/>
            </p:custDataLst>
          </p:nvPr>
        </p:nvSpPr>
        <p:spPr bwMode="auto">
          <a:xfrm>
            <a:off x="4419600" y="1123950"/>
            <a:ext cx="495300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buFont typeface="Wingdings" panose="05000000000000000000" pitchFamily="2" charset="2"/>
              <a:buChar char="Ø"/>
            </a:pPr>
            <a:r>
              <a:rPr lang="zh-CN" altLang="en-US" b="1" dirty="0">
                <a:solidFill>
                  <a:srgbClr val="FF0000"/>
                </a:solidFill>
                <a:latin typeface="楷体" panose="02010609060101010101" pitchFamily="49" charset="-122"/>
                <a:ea typeface="楷体" panose="02010609060101010101" pitchFamily="49" charset="-122"/>
              </a:rPr>
              <a:t>第一步</a:t>
            </a:r>
            <a:r>
              <a:rPr lang="zh-CN" altLang="en-US" b="1" dirty="0">
                <a:solidFill>
                  <a:srgbClr val="FF0000"/>
                </a:solidFill>
                <a:latin typeface="楷体" panose="02010609060101010101" charset="-122"/>
                <a:ea typeface="楷体" panose="02010609060101010101" charset="-122"/>
              </a:rPr>
              <a:t>：建立状态空间模型</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第二步：检验系统可控性</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第三步：确定期望闭环极点位置</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第四步：计算状态反馈增益矩阵</a:t>
            </a:r>
            <a:r>
              <a:rPr lang="en-US" altLang="zh-CN" b="1" dirty="0">
                <a:solidFill>
                  <a:srgbClr val="FF0000"/>
                </a:solidFill>
                <a:latin typeface="楷体" panose="02010609060101010101" charset="-122"/>
                <a:ea typeface="楷体" panose="02010609060101010101" charset="-122"/>
              </a:rPr>
              <a:t>K</a:t>
            </a: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第五步：加入参考输入与稳态补偿</a:t>
            </a:r>
            <a:endParaRPr lang="en-US"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第六步：仿真与性能验证</a:t>
            </a:r>
            <a:endParaRPr lang="zh-CN" altLang="zh-CN" b="1" dirty="0">
              <a:solidFill>
                <a:srgbClr val="FF0000"/>
              </a:solidFill>
              <a:latin typeface="楷体" panose="02010609060101010101" charset="-122"/>
              <a:ea typeface="楷体" panose="02010609060101010101" charset="-122"/>
            </a:endParaRPr>
          </a:p>
          <a:p>
            <a:pPr>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第七步：硬件实现与观测器扩展（若需要）</a:t>
            </a:r>
            <a:endParaRPr lang="zh-CN" altLang="zh-CN" b="1" dirty="0">
              <a:solidFill>
                <a:srgbClr val="FF0000"/>
              </a:solidFill>
              <a:latin typeface="楷体" panose="02010609060101010101" charset="-122"/>
              <a:ea typeface="楷体" panose="02010609060101010101" charset="-122"/>
            </a:endParaRPr>
          </a:p>
        </p:txBody>
      </p:sp>
      <p:sp>
        <p:nvSpPr>
          <p:cNvPr id="5" name="文本框 4">
            <a:extLst>
              <a:ext uri="{FF2B5EF4-FFF2-40B4-BE49-F238E27FC236}">
                <a16:creationId xmlns:a16="http://schemas.microsoft.com/office/drawing/2014/main" id="{A835E0DD-6F02-8E0F-5A04-F856FF1389ED}"/>
              </a:ext>
            </a:extLst>
          </p:cNvPr>
          <p:cNvSpPr txBox="1"/>
          <p:nvPr/>
        </p:nvSpPr>
        <p:spPr>
          <a:xfrm>
            <a:off x="4419600" y="696834"/>
            <a:ext cx="4686708" cy="397032"/>
          </a:xfrm>
          <a:prstGeom prst="rect">
            <a:avLst/>
          </a:prstGeom>
          <a:noFill/>
        </p:spPr>
        <p:txBody>
          <a:bodyPr wrap="square">
            <a:spAutoFit/>
          </a:body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全状态反馈控制设计</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4C4DA-D8CB-F8C3-4146-04181FF9F6F5}"/>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12D39D86-1C3C-7108-D333-8213BF87C1A5}"/>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4.</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倒立摆平衡控制设计（可加页）</a:t>
            </a: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2400" b="1" kern="0" dirty="0">
              <a:solidFill>
                <a:srgbClr val="C00000"/>
              </a:solidFill>
              <a:latin typeface="+mj-lt"/>
              <a:ea typeface="+mj-ea"/>
              <a:cs typeface="+mj-cs"/>
            </a:endParaRPr>
          </a:p>
        </p:txBody>
      </p:sp>
      <p:sp>
        <p:nvSpPr>
          <p:cNvPr id="9219" name="灯片编号占位符 3">
            <a:extLst>
              <a:ext uri="{FF2B5EF4-FFF2-40B4-BE49-F238E27FC236}">
                <a16:creationId xmlns:a16="http://schemas.microsoft.com/office/drawing/2014/main" id="{BCD14A48-75F0-C9A0-179F-D790BF81EEF1}"/>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E822812-0E83-475B-A8BC-98E35B33C901}" type="slidenum">
              <a:rPr lang="zh-CN" altLang="en-US"/>
              <a:pPr/>
              <a:t>15</a:t>
            </a:fld>
            <a:endParaRPr lang="zh-CN" altLang="en-US"/>
          </a:p>
        </p:txBody>
      </p:sp>
      <p:sp>
        <p:nvSpPr>
          <p:cNvPr id="9221" name="Rectangle 3">
            <a:extLst>
              <a:ext uri="{FF2B5EF4-FFF2-40B4-BE49-F238E27FC236}">
                <a16:creationId xmlns:a16="http://schemas.microsoft.com/office/drawing/2014/main" id="{C99466FA-9440-D120-6A3D-A1329F74E5E4}"/>
              </a:ext>
            </a:extLst>
          </p:cNvPr>
          <p:cNvSpPr txBox="1">
            <a:spLocks noChangeArrowheads="1"/>
          </p:cNvSpPr>
          <p:nvPr/>
        </p:nvSpPr>
        <p:spPr bwMode="auto">
          <a:xfrm>
            <a:off x="304800" y="666750"/>
            <a:ext cx="8610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平衡控制仿真和实验结果</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给出每次控制时的小车位移、摆杆角度、小车加速度</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控制量）曲线）</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4A272372-23B5-932E-744B-C98A4055F212}"/>
              </a:ext>
            </a:extLst>
          </p:cNvPr>
          <p:cNvPicPr>
            <a:picLocks noChangeAspect="1"/>
          </p:cNvPicPr>
          <p:nvPr/>
        </p:nvPicPr>
        <p:blipFill>
          <a:blip r:embed="rId2"/>
          <a:stretch>
            <a:fillRect/>
          </a:stretch>
        </p:blipFill>
        <p:spPr>
          <a:xfrm>
            <a:off x="1257300" y="1352550"/>
            <a:ext cx="6629400" cy="3395352"/>
          </a:xfrm>
          <a:prstGeom prst="rect">
            <a:avLst/>
          </a:prstGeom>
        </p:spPr>
      </p:pic>
      <p:sp>
        <p:nvSpPr>
          <p:cNvPr id="4" name="矩形 33">
            <a:extLst>
              <a:ext uri="{FF2B5EF4-FFF2-40B4-BE49-F238E27FC236}">
                <a16:creationId xmlns:a16="http://schemas.microsoft.com/office/drawing/2014/main" id="{18F26636-F853-D105-59CF-4107B4DC84CE}"/>
              </a:ext>
            </a:extLst>
          </p:cNvPr>
          <p:cNvSpPr>
            <a:spLocks noChangeArrowheads="1"/>
          </p:cNvSpPr>
          <p:nvPr/>
        </p:nvSpPr>
        <p:spPr bwMode="auto">
          <a:xfrm>
            <a:off x="2960981" y="4747902"/>
            <a:ext cx="32220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经验法配置</a:t>
            </a:r>
            <a:r>
              <a:rPr lang="en-US" altLang="zh-CN" sz="1400" b="1" dirty="0">
                <a:latin typeface="Times New Roman" panose="02020603050405020304" pitchFamily="18" charset="0"/>
                <a:ea typeface="华文楷体" panose="02010600040101010101" pitchFamily="2" charset="-122"/>
                <a:cs typeface="Times New Roman" panose="02020603050405020304" pitchFamily="18" charset="0"/>
              </a:rPr>
              <a:t>PID</a:t>
            </a: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结果</a:t>
            </a:r>
          </a:p>
        </p:txBody>
      </p:sp>
    </p:spTree>
    <p:extLst>
      <p:ext uri="{BB962C8B-B14F-4D97-AF65-F5344CB8AC3E}">
        <p14:creationId xmlns:p14="http://schemas.microsoft.com/office/powerpoint/2010/main" val="2405461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34587-3C21-4BAE-99B1-4B283FEBCB72}"/>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195F5718-5444-F8ED-EBDA-7E902FA3ACCD}"/>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4.</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倒立摆平衡控制设计（可加页）</a:t>
            </a: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2400" b="1" kern="0" dirty="0">
              <a:solidFill>
                <a:srgbClr val="C00000"/>
              </a:solidFill>
              <a:latin typeface="+mj-lt"/>
              <a:ea typeface="+mj-ea"/>
              <a:cs typeface="+mj-cs"/>
            </a:endParaRPr>
          </a:p>
        </p:txBody>
      </p:sp>
      <p:sp>
        <p:nvSpPr>
          <p:cNvPr id="9219" name="灯片编号占位符 3">
            <a:extLst>
              <a:ext uri="{FF2B5EF4-FFF2-40B4-BE49-F238E27FC236}">
                <a16:creationId xmlns:a16="http://schemas.microsoft.com/office/drawing/2014/main" id="{F31E3E4C-8072-3F98-D05E-B948D9C2C7A5}"/>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E822812-0E83-475B-A8BC-98E35B33C901}" type="slidenum">
              <a:rPr lang="zh-CN" altLang="en-US"/>
              <a:pPr/>
              <a:t>16</a:t>
            </a:fld>
            <a:endParaRPr lang="zh-CN" altLang="en-US"/>
          </a:p>
        </p:txBody>
      </p:sp>
      <p:sp>
        <p:nvSpPr>
          <p:cNvPr id="9221" name="Rectangle 3">
            <a:extLst>
              <a:ext uri="{FF2B5EF4-FFF2-40B4-BE49-F238E27FC236}">
                <a16:creationId xmlns:a16="http://schemas.microsoft.com/office/drawing/2014/main" id="{F24C6005-8C9E-B241-9DC5-FFE88A8AE793}"/>
              </a:ext>
            </a:extLst>
          </p:cNvPr>
          <p:cNvSpPr txBox="1">
            <a:spLocks noChangeArrowheads="1"/>
          </p:cNvSpPr>
          <p:nvPr/>
        </p:nvSpPr>
        <p:spPr bwMode="auto">
          <a:xfrm>
            <a:off x="304800" y="666750"/>
            <a:ext cx="8610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平衡控制仿真和实验结果</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给出每次控制时的小车位移、摆杆角度、小车加速度</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控制量）曲线）</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4" name="矩形 33">
            <a:extLst>
              <a:ext uri="{FF2B5EF4-FFF2-40B4-BE49-F238E27FC236}">
                <a16:creationId xmlns:a16="http://schemas.microsoft.com/office/drawing/2014/main" id="{40F707C6-372C-E5A9-BC17-421494EF0C9D}"/>
              </a:ext>
            </a:extLst>
          </p:cNvPr>
          <p:cNvSpPr>
            <a:spLocks noChangeArrowheads="1"/>
          </p:cNvSpPr>
          <p:nvPr/>
        </p:nvSpPr>
        <p:spPr bwMode="auto">
          <a:xfrm>
            <a:off x="2960981" y="4400550"/>
            <a:ext cx="32220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极点配置法配置</a:t>
            </a:r>
            <a:r>
              <a:rPr lang="en-US" altLang="zh-CN" sz="1400" b="1" dirty="0">
                <a:latin typeface="Times New Roman" panose="02020603050405020304" pitchFamily="18" charset="0"/>
                <a:ea typeface="华文楷体" panose="02010600040101010101" pitchFamily="2" charset="-122"/>
                <a:cs typeface="Times New Roman" panose="02020603050405020304" pitchFamily="18" charset="0"/>
              </a:rPr>
              <a:t>PID</a:t>
            </a: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结果</a:t>
            </a:r>
          </a:p>
        </p:txBody>
      </p:sp>
      <p:pic>
        <p:nvPicPr>
          <p:cNvPr id="2" name="图片 1">
            <a:extLst>
              <a:ext uri="{FF2B5EF4-FFF2-40B4-BE49-F238E27FC236}">
                <a16:creationId xmlns:a16="http://schemas.microsoft.com/office/drawing/2014/main" id="{4D434FC4-BD2E-F626-5DD2-82FAA9C5F69A}"/>
              </a:ext>
            </a:extLst>
          </p:cNvPr>
          <p:cNvPicPr>
            <a:picLocks noChangeAspect="1"/>
          </p:cNvPicPr>
          <p:nvPr/>
        </p:nvPicPr>
        <p:blipFill>
          <a:blip r:embed="rId2"/>
          <a:stretch>
            <a:fillRect/>
          </a:stretch>
        </p:blipFill>
        <p:spPr>
          <a:xfrm>
            <a:off x="225323" y="1428750"/>
            <a:ext cx="4845050" cy="2529010"/>
          </a:xfrm>
          <a:prstGeom prst="rect">
            <a:avLst/>
          </a:prstGeom>
        </p:spPr>
      </p:pic>
      <p:pic>
        <p:nvPicPr>
          <p:cNvPr id="5" name="图片 4">
            <a:extLst>
              <a:ext uri="{FF2B5EF4-FFF2-40B4-BE49-F238E27FC236}">
                <a16:creationId xmlns:a16="http://schemas.microsoft.com/office/drawing/2014/main" id="{E6B27CC2-0203-9C5C-E201-C7BEA57157F7}"/>
              </a:ext>
            </a:extLst>
          </p:cNvPr>
          <p:cNvPicPr>
            <a:picLocks noChangeAspect="1"/>
          </p:cNvPicPr>
          <p:nvPr/>
        </p:nvPicPr>
        <p:blipFill>
          <a:blip r:embed="rId3"/>
          <a:stretch>
            <a:fillRect/>
          </a:stretch>
        </p:blipFill>
        <p:spPr>
          <a:xfrm>
            <a:off x="5295643" y="1283555"/>
            <a:ext cx="3514880" cy="2819400"/>
          </a:xfrm>
          <a:prstGeom prst="rect">
            <a:avLst/>
          </a:prstGeom>
        </p:spPr>
      </p:pic>
    </p:spTree>
    <p:extLst>
      <p:ext uri="{BB962C8B-B14F-4D97-AF65-F5344CB8AC3E}">
        <p14:creationId xmlns:p14="http://schemas.microsoft.com/office/powerpoint/2010/main" val="3879949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17CB4-271A-E927-CF2D-B26B705FB4A0}"/>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211D2FA9-665D-AE54-6E6D-DAEC3CBF6D19}"/>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4.</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倒立摆平衡控制设计（可加页）</a:t>
            </a: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2400" b="1" kern="0" dirty="0">
              <a:solidFill>
                <a:srgbClr val="C00000"/>
              </a:solidFill>
              <a:latin typeface="+mj-lt"/>
              <a:ea typeface="+mj-ea"/>
              <a:cs typeface="+mj-cs"/>
            </a:endParaRPr>
          </a:p>
        </p:txBody>
      </p:sp>
      <p:sp>
        <p:nvSpPr>
          <p:cNvPr id="9219" name="灯片编号占位符 3">
            <a:extLst>
              <a:ext uri="{FF2B5EF4-FFF2-40B4-BE49-F238E27FC236}">
                <a16:creationId xmlns:a16="http://schemas.microsoft.com/office/drawing/2014/main" id="{D113C8BA-BA05-132E-7F28-C641CDC946E5}"/>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E822812-0E83-475B-A8BC-98E35B33C901}" type="slidenum">
              <a:rPr lang="zh-CN" altLang="en-US"/>
              <a:pPr/>
              <a:t>17</a:t>
            </a:fld>
            <a:endParaRPr lang="zh-CN" altLang="en-US"/>
          </a:p>
        </p:txBody>
      </p:sp>
      <p:sp>
        <p:nvSpPr>
          <p:cNvPr id="9221" name="Rectangle 3">
            <a:extLst>
              <a:ext uri="{FF2B5EF4-FFF2-40B4-BE49-F238E27FC236}">
                <a16:creationId xmlns:a16="http://schemas.microsoft.com/office/drawing/2014/main" id="{DB0EEB6E-6AF1-EFF8-E2F9-A41A43308D35}"/>
              </a:ext>
            </a:extLst>
          </p:cNvPr>
          <p:cNvSpPr txBox="1">
            <a:spLocks noChangeArrowheads="1"/>
          </p:cNvSpPr>
          <p:nvPr/>
        </p:nvSpPr>
        <p:spPr bwMode="auto">
          <a:xfrm>
            <a:off x="304800" y="666750"/>
            <a:ext cx="8610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平衡控制仿真和实验结果</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给出每次控制时的小车位移、摆杆角度、小车加速度</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控制量）曲线）</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4" name="矩形 33">
            <a:extLst>
              <a:ext uri="{FF2B5EF4-FFF2-40B4-BE49-F238E27FC236}">
                <a16:creationId xmlns:a16="http://schemas.microsoft.com/office/drawing/2014/main" id="{842872B5-EDB7-3F9D-3542-53EA518FFA59}"/>
              </a:ext>
            </a:extLst>
          </p:cNvPr>
          <p:cNvSpPr>
            <a:spLocks noChangeArrowheads="1"/>
          </p:cNvSpPr>
          <p:nvPr/>
        </p:nvSpPr>
        <p:spPr bwMode="auto">
          <a:xfrm>
            <a:off x="2960981" y="4400550"/>
            <a:ext cx="32220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实物验证</a:t>
            </a:r>
          </a:p>
        </p:txBody>
      </p:sp>
      <p:pic>
        <p:nvPicPr>
          <p:cNvPr id="3" name="图片 2">
            <a:extLst>
              <a:ext uri="{FF2B5EF4-FFF2-40B4-BE49-F238E27FC236}">
                <a16:creationId xmlns:a16="http://schemas.microsoft.com/office/drawing/2014/main" id="{CBEB813E-903D-BE2F-8CB9-24451018A9FC}"/>
              </a:ext>
            </a:extLst>
          </p:cNvPr>
          <p:cNvPicPr>
            <a:picLocks noChangeAspect="1"/>
          </p:cNvPicPr>
          <p:nvPr/>
        </p:nvPicPr>
        <p:blipFill>
          <a:blip r:embed="rId2"/>
          <a:stretch>
            <a:fillRect/>
          </a:stretch>
        </p:blipFill>
        <p:spPr>
          <a:xfrm>
            <a:off x="152400" y="1428750"/>
            <a:ext cx="3568588" cy="2743200"/>
          </a:xfrm>
          <a:prstGeom prst="rect">
            <a:avLst/>
          </a:prstGeom>
        </p:spPr>
      </p:pic>
      <p:pic>
        <p:nvPicPr>
          <p:cNvPr id="6" name="图片 5">
            <a:extLst>
              <a:ext uri="{FF2B5EF4-FFF2-40B4-BE49-F238E27FC236}">
                <a16:creationId xmlns:a16="http://schemas.microsoft.com/office/drawing/2014/main" id="{6C8E0569-E324-5834-AE32-0DE690C7987B}"/>
              </a:ext>
            </a:extLst>
          </p:cNvPr>
          <p:cNvPicPr>
            <a:picLocks noChangeAspect="1"/>
          </p:cNvPicPr>
          <p:nvPr/>
        </p:nvPicPr>
        <p:blipFill>
          <a:blip r:embed="rId3"/>
          <a:stretch>
            <a:fillRect/>
          </a:stretch>
        </p:blipFill>
        <p:spPr>
          <a:xfrm>
            <a:off x="3810001" y="1440922"/>
            <a:ext cx="5334000" cy="2731028"/>
          </a:xfrm>
          <a:prstGeom prst="rect">
            <a:avLst/>
          </a:prstGeom>
        </p:spPr>
      </p:pic>
    </p:spTree>
    <p:extLst>
      <p:ext uri="{BB962C8B-B14F-4D97-AF65-F5344CB8AC3E}">
        <p14:creationId xmlns:p14="http://schemas.microsoft.com/office/powerpoint/2010/main" val="2468030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79C3E-3E64-EAB9-9A8A-F853AF3DB778}"/>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153EB15C-A46A-31D2-C2BB-1E4EAA1D3BC4}"/>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4.</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倒立摆平衡控制设计（可加页）</a:t>
            </a: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2400" b="1" kern="0" dirty="0">
              <a:solidFill>
                <a:srgbClr val="C00000"/>
              </a:solidFill>
              <a:latin typeface="+mj-lt"/>
              <a:ea typeface="+mj-ea"/>
              <a:cs typeface="+mj-cs"/>
            </a:endParaRPr>
          </a:p>
        </p:txBody>
      </p:sp>
      <p:sp>
        <p:nvSpPr>
          <p:cNvPr id="9219" name="灯片编号占位符 3">
            <a:extLst>
              <a:ext uri="{FF2B5EF4-FFF2-40B4-BE49-F238E27FC236}">
                <a16:creationId xmlns:a16="http://schemas.microsoft.com/office/drawing/2014/main" id="{653CA365-8C25-14DB-6050-136A0AFEC499}"/>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E822812-0E83-475B-A8BC-98E35B33C901}" type="slidenum">
              <a:rPr lang="zh-CN" altLang="en-US"/>
              <a:pPr/>
              <a:t>18</a:t>
            </a:fld>
            <a:endParaRPr lang="zh-CN" altLang="en-US"/>
          </a:p>
        </p:txBody>
      </p:sp>
      <p:sp>
        <p:nvSpPr>
          <p:cNvPr id="9221" name="Rectangle 3">
            <a:extLst>
              <a:ext uri="{FF2B5EF4-FFF2-40B4-BE49-F238E27FC236}">
                <a16:creationId xmlns:a16="http://schemas.microsoft.com/office/drawing/2014/main" id="{1278BFAC-1429-2C96-2E2F-E5C16F4D90FD}"/>
              </a:ext>
            </a:extLst>
          </p:cNvPr>
          <p:cNvSpPr txBox="1">
            <a:spLocks noChangeArrowheads="1"/>
          </p:cNvSpPr>
          <p:nvPr/>
        </p:nvSpPr>
        <p:spPr bwMode="auto">
          <a:xfrm>
            <a:off x="304800" y="666750"/>
            <a:ext cx="8610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平衡控制仿真和实验结果</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给出每次控制时的小车位移、摆杆角度、小车加速度</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控制量）曲线）</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4" name="矩形 33">
            <a:extLst>
              <a:ext uri="{FF2B5EF4-FFF2-40B4-BE49-F238E27FC236}">
                <a16:creationId xmlns:a16="http://schemas.microsoft.com/office/drawing/2014/main" id="{308C1094-B1E7-D13B-D863-442D0EDD77AB}"/>
              </a:ext>
            </a:extLst>
          </p:cNvPr>
          <p:cNvSpPr>
            <a:spLocks noChangeArrowheads="1"/>
          </p:cNvSpPr>
          <p:nvPr/>
        </p:nvSpPr>
        <p:spPr bwMode="auto">
          <a:xfrm>
            <a:off x="2960981" y="4400550"/>
            <a:ext cx="32220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全状态反馈控制器设计结果</a:t>
            </a:r>
          </a:p>
        </p:txBody>
      </p:sp>
      <p:pic>
        <p:nvPicPr>
          <p:cNvPr id="3" name="图片 2">
            <a:extLst>
              <a:ext uri="{FF2B5EF4-FFF2-40B4-BE49-F238E27FC236}">
                <a16:creationId xmlns:a16="http://schemas.microsoft.com/office/drawing/2014/main" id="{7B6350E8-DDF9-85A4-14B3-C539402602DB}"/>
              </a:ext>
            </a:extLst>
          </p:cNvPr>
          <p:cNvPicPr>
            <a:picLocks noChangeAspect="1"/>
          </p:cNvPicPr>
          <p:nvPr/>
        </p:nvPicPr>
        <p:blipFill>
          <a:blip r:embed="rId2"/>
          <a:stretch>
            <a:fillRect/>
          </a:stretch>
        </p:blipFill>
        <p:spPr>
          <a:xfrm>
            <a:off x="304799" y="1276350"/>
            <a:ext cx="4653100" cy="2618046"/>
          </a:xfrm>
          <a:prstGeom prst="rect">
            <a:avLst/>
          </a:prstGeom>
        </p:spPr>
      </p:pic>
      <p:pic>
        <p:nvPicPr>
          <p:cNvPr id="6" name="图片 5">
            <a:extLst>
              <a:ext uri="{FF2B5EF4-FFF2-40B4-BE49-F238E27FC236}">
                <a16:creationId xmlns:a16="http://schemas.microsoft.com/office/drawing/2014/main" id="{0B85FB87-8FC8-6591-8F7B-0D9BE18A0EBA}"/>
              </a:ext>
            </a:extLst>
          </p:cNvPr>
          <p:cNvPicPr>
            <a:picLocks noChangeAspect="1"/>
          </p:cNvPicPr>
          <p:nvPr/>
        </p:nvPicPr>
        <p:blipFill>
          <a:blip r:embed="rId3"/>
          <a:stretch>
            <a:fillRect/>
          </a:stretch>
        </p:blipFill>
        <p:spPr>
          <a:xfrm>
            <a:off x="5029200" y="1570880"/>
            <a:ext cx="3922860" cy="2111331"/>
          </a:xfrm>
          <a:prstGeom prst="rect">
            <a:avLst/>
          </a:prstGeom>
        </p:spPr>
      </p:pic>
    </p:spTree>
    <p:extLst>
      <p:ext uri="{BB962C8B-B14F-4D97-AF65-F5344CB8AC3E}">
        <p14:creationId xmlns:p14="http://schemas.microsoft.com/office/powerpoint/2010/main" val="2073686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038DD-C046-ABC3-C3BB-0EC3B6815245}"/>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230979AB-901E-EF5B-B2A7-A3A8C9B702BE}"/>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4.</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倒立摆平衡控制设计（可加页）</a:t>
            </a: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2400" b="1" kern="0" dirty="0">
              <a:solidFill>
                <a:srgbClr val="C00000"/>
              </a:solidFill>
              <a:latin typeface="+mj-lt"/>
              <a:ea typeface="+mj-ea"/>
              <a:cs typeface="+mj-cs"/>
            </a:endParaRPr>
          </a:p>
        </p:txBody>
      </p:sp>
      <p:sp>
        <p:nvSpPr>
          <p:cNvPr id="9219" name="灯片编号占位符 3">
            <a:extLst>
              <a:ext uri="{FF2B5EF4-FFF2-40B4-BE49-F238E27FC236}">
                <a16:creationId xmlns:a16="http://schemas.microsoft.com/office/drawing/2014/main" id="{23A3833E-9F9E-1E9A-E578-40B0A4D8A636}"/>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E822812-0E83-475B-A8BC-98E35B33C901}" type="slidenum">
              <a:rPr lang="zh-CN" altLang="en-US"/>
              <a:pPr/>
              <a:t>19</a:t>
            </a:fld>
            <a:endParaRPr lang="zh-CN" altLang="en-US"/>
          </a:p>
        </p:txBody>
      </p:sp>
      <p:sp>
        <p:nvSpPr>
          <p:cNvPr id="9221" name="Rectangle 3">
            <a:extLst>
              <a:ext uri="{FF2B5EF4-FFF2-40B4-BE49-F238E27FC236}">
                <a16:creationId xmlns:a16="http://schemas.microsoft.com/office/drawing/2014/main" id="{5349B764-657C-FE1D-02B0-B4E0645D1D92}"/>
              </a:ext>
            </a:extLst>
          </p:cNvPr>
          <p:cNvSpPr txBox="1">
            <a:spLocks noChangeArrowheads="1"/>
          </p:cNvSpPr>
          <p:nvPr/>
        </p:nvSpPr>
        <p:spPr bwMode="auto">
          <a:xfrm>
            <a:off x="304800" y="666750"/>
            <a:ext cx="8610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平衡控制仿真和实验结果</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给出每次控制时的小车位移、摆杆角度、小车加速度</a:t>
            </a:r>
            <a:r>
              <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a:t>
            </a: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控制量）曲线）</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4" name="矩形 33">
            <a:extLst>
              <a:ext uri="{FF2B5EF4-FFF2-40B4-BE49-F238E27FC236}">
                <a16:creationId xmlns:a16="http://schemas.microsoft.com/office/drawing/2014/main" id="{8F9E5D37-B51D-CD5E-CDE8-DD3562797761}"/>
              </a:ext>
            </a:extLst>
          </p:cNvPr>
          <p:cNvSpPr>
            <a:spLocks noChangeArrowheads="1"/>
          </p:cNvSpPr>
          <p:nvPr/>
        </p:nvSpPr>
        <p:spPr bwMode="auto">
          <a:xfrm>
            <a:off x="2960981" y="4400550"/>
            <a:ext cx="32220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实物验证</a:t>
            </a:r>
          </a:p>
        </p:txBody>
      </p:sp>
      <p:pic>
        <p:nvPicPr>
          <p:cNvPr id="2" name="图片 1">
            <a:extLst>
              <a:ext uri="{FF2B5EF4-FFF2-40B4-BE49-F238E27FC236}">
                <a16:creationId xmlns:a16="http://schemas.microsoft.com/office/drawing/2014/main" id="{2EEFF851-B3FF-5F74-C8A0-A568F7452642}"/>
              </a:ext>
            </a:extLst>
          </p:cNvPr>
          <p:cNvPicPr>
            <a:picLocks noChangeAspect="1"/>
          </p:cNvPicPr>
          <p:nvPr/>
        </p:nvPicPr>
        <p:blipFill>
          <a:blip r:embed="rId2"/>
          <a:stretch>
            <a:fillRect/>
          </a:stretch>
        </p:blipFill>
        <p:spPr>
          <a:xfrm>
            <a:off x="1924051" y="1423629"/>
            <a:ext cx="5295899" cy="2752179"/>
          </a:xfrm>
          <a:prstGeom prst="rect">
            <a:avLst/>
          </a:prstGeom>
        </p:spPr>
      </p:pic>
    </p:spTree>
    <p:extLst>
      <p:ext uri="{BB962C8B-B14F-4D97-AF65-F5344CB8AC3E}">
        <p14:creationId xmlns:p14="http://schemas.microsoft.com/office/powerpoint/2010/main" val="2219625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5E01C-5CAA-86A4-A9FD-4ACE8DD606D2}"/>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0C385443-2CFB-B5C6-2B03-CAF410157C88}"/>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4.</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倒立摆平衡控制设计（可加页）</a:t>
            </a: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2400" b="1" kern="0" dirty="0">
              <a:solidFill>
                <a:srgbClr val="C00000"/>
              </a:solidFill>
              <a:latin typeface="+mj-lt"/>
              <a:ea typeface="+mj-ea"/>
              <a:cs typeface="+mj-cs"/>
            </a:endParaRPr>
          </a:p>
        </p:txBody>
      </p:sp>
      <p:sp>
        <p:nvSpPr>
          <p:cNvPr id="9219" name="灯片编号占位符 3">
            <a:extLst>
              <a:ext uri="{FF2B5EF4-FFF2-40B4-BE49-F238E27FC236}">
                <a16:creationId xmlns:a16="http://schemas.microsoft.com/office/drawing/2014/main" id="{D3CD224F-F212-89B8-436A-FCE743E58BB9}"/>
              </a:ext>
            </a:extLst>
          </p:cNvPr>
          <p:cNvSpPr txBox="1">
            <a:spLocks/>
          </p:cNvSpPr>
          <p:nvPr/>
        </p:nvSpPr>
        <p:spPr bwMode="auto">
          <a:xfrm>
            <a:off x="6196013" y="5967413"/>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E822812-0E83-475B-A8BC-98E35B33C901}" type="slidenum">
              <a:rPr lang="zh-CN" altLang="en-US"/>
              <a:pPr/>
              <a:t>20</a:t>
            </a:fld>
            <a:endParaRPr lang="zh-CN" altLang="en-US"/>
          </a:p>
        </p:txBody>
      </p:sp>
      <p:sp>
        <p:nvSpPr>
          <p:cNvPr id="9221" name="Rectangle 3">
            <a:extLst>
              <a:ext uri="{FF2B5EF4-FFF2-40B4-BE49-F238E27FC236}">
                <a16:creationId xmlns:a16="http://schemas.microsoft.com/office/drawing/2014/main" id="{23F99DBE-6752-E742-71D8-1FB510D9715D}"/>
              </a:ext>
            </a:extLst>
          </p:cNvPr>
          <p:cNvSpPr txBox="1">
            <a:spLocks noChangeArrowheads="1"/>
          </p:cNvSpPr>
          <p:nvPr/>
        </p:nvSpPr>
        <p:spPr bwMode="auto">
          <a:xfrm>
            <a:off x="304800" y="666750"/>
            <a:ext cx="861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结合课程理论知识，对实验结果的分析和思考</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endParaRPr kumimoji="1" lang="en-US" altLang="zh-CN" sz="1200" b="1" dirty="0">
              <a:latin typeface="楷体_GB2312" panose="02010609030101010101" pitchFamily="49" charset="-122"/>
              <a:ea typeface="楷体_GB2312" panose="02010609030101010101" pitchFamily="49" charset="-122"/>
              <a:cs typeface="Times New Roman" panose="02020603050405020304" pitchFamily="18" charset="0"/>
            </a:endParaRPr>
          </a:p>
        </p:txBody>
      </p:sp>
      <p:pic>
        <p:nvPicPr>
          <p:cNvPr id="4" name="图片 3">
            <a:extLst>
              <a:ext uri="{FF2B5EF4-FFF2-40B4-BE49-F238E27FC236}">
                <a16:creationId xmlns:a16="http://schemas.microsoft.com/office/drawing/2014/main" id="{9F20C7E2-7120-C813-59CC-F6CF1BD9DF28}"/>
              </a:ext>
            </a:extLst>
          </p:cNvPr>
          <p:cNvPicPr>
            <a:picLocks noChangeAspect="1"/>
          </p:cNvPicPr>
          <p:nvPr/>
        </p:nvPicPr>
        <p:blipFill>
          <a:blip r:embed="rId2"/>
          <a:stretch>
            <a:fillRect/>
          </a:stretch>
        </p:blipFill>
        <p:spPr>
          <a:xfrm>
            <a:off x="0" y="1276350"/>
            <a:ext cx="9144000" cy="1452785"/>
          </a:xfrm>
          <a:prstGeom prst="rect">
            <a:avLst/>
          </a:prstGeom>
        </p:spPr>
      </p:pic>
    </p:spTree>
    <p:extLst>
      <p:ext uri="{BB962C8B-B14F-4D97-AF65-F5344CB8AC3E}">
        <p14:creationId xmlns:p14="http://schemas.microsoft.com/office/powerpoint/2010/main" val="176340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BD85F25-B3F5-8DEB-2E83-43A34A10EBF4}"/>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5.</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总结</a:t>
            </a:r>
            <a:endParaRPr lang="zh-CN" altLang="en-US" sz="2400" b="1" kern="0" dirty="0">
              <a:solidFill>
                <a:srgbClr val="C00000"/>
              </a:solidFill>
              <a:latin typeface="+mj-lt"/>
              <a:ea typeface="+mj-ea"/>
              <a:cs typeface="+mj-cs"/>
            </a:endParaRPr>
          </a:p>
        </p:txBody>
      </p:sp>
      <p:sp>
        <p:nvSpPr>
          <p:cNvPr id="10243" name="Rectangle 3">
            <a:extLst>
              <a:ext uri="{FF2B5EF4-FFF2-40B4-BE49-F238E27FC236}">
                <a16:creationId xmlns:a16="http://schemas.microsoft.com/office/drawing/2014/main" id="{37D5B01B-CCF6-3389-0A96-80625A3EEF40}"/>
              </a:ext>
            </a:extLst>
          </p:cNvPr>
          <p:cNvSpPr txBox="1">
            <a:spLocks noChangeArrowheads="1"/>
          </p:cNvSpPr>
          <p:nvPr/>
        </p:nvSpPr>
        <p:spPr bwMode="auto">
          <a:xfrm>
            <a:off x="533400" y="819150"/>
            <a:ext cx="861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干扰和激励对辨识和控制的思考</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C10FA281-FD0E-6527-B495-8D2292A5D81F}"/>
              </a:ext>
            </a:extLst>
          </p:cNvPr>
          <p:cNvSpPr txBox="1"/>
          <p:nvPr/>
        </p:nvSpPr>
        <p:spPr>
          <a:xfrm>
            <a:off x="496529" y="1352550"/>
            <a:ext cx="7848600"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400" b="1">
                <a:latin typeface="Times New Roman" panose="02020603050405020304" pitchFamily="18" charset="0"/>
                <a:ea typeface="华文楷体" panose="02010600040101010101" pitchFamily="2" charset="-122"/>
                <a:cs typeface="Times New Roman" panose="02020603050405020304" pitchFamily="18" charset="0"/>
              </a:defRPr>
            </a:lvl1pPr>
          </a:lstStyle>
          <a:p>
            <a:pPr algn="l"/>
            <a:r>
              <a:rPr lang="zh-CN" altLang="en-US" sz="1800" dirty="0"/>
              <a:t>在系统辨识与控制过程中，干扰与激励信号对结果的准确性和系统性能具有直接影响。对于系统辨识而言，激励信号是获取系统动态特性的核心，应保证激励具有足够的频率内容和能量，以全面激发系统的各阶动态特征。如果激励信号幅值过小或频率范围过窄，系统响应不足，辨识模型将难以准确反映系统特性；反之，激励过强则可能使系统进入非线性区，违背线性辨识的假设，导致模型失真。</a:t>
            </a:r>
            <a:br>
              <a:rPr lang="zh-CN" altLang="en-US" sz="1800" dirty="0"/>
            </a:br>
            <a:r>
              <a:rPr lang="zh-CN" altLang="en-US" sz="1800" dirty="0"/>
              <a:t>另一方面，环境干扰和测量噪声会直接影响数据质量。噪声不仅会降低信噪比、放大辨识误差，还可能在控制环节中引入不必要的高频震荡，尤其对于含微分项的控制器更为明显。因此，实验中需通过滤波、数据平滑和合适的采样策略减小噪声影响。同时，在控制设计阶段，需考虑干扰抑制能力与系统灵敏度的平衡，以确保控制系统既具快速响应，又具良好的稳健性。</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E0946-5CC9-AC8C-411F-59EDC9F0B2C0}"/>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F1196C03-5326-ECC0-880A-AB86A493FB2C}"/>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5.</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总结</a:t>
            </a:r>
            <a:endParaRPr lang="zh-CN" altLang="en-US" sz="2400" b="1" kern="0" dirty="0">
              <a:solidFill>
                <a:srgbClr val="C00000"/>
              </a:solidFill>
              <a:latin typeface="+mj-lt"/>
              <a:ea typeface="+mj-ea"/>
              <a:cs typeface="+mj-cs"/>
            </a:endParaRPr>
          </a:p>
        </p:txBody>
      </p:sp>
      <p:sp>
        <p:nvSpPr>
          <p:cNvPr id="10243" name="Rectangle 3">
            <a:extLst>
              <a:ext uri="{FF2B5EF4-FFF2-40B4-BE49-F238E27FC236}">
                <a16:creationId xmlns:a16="http://schemas.microsoft.com/office/drawing/2014/main" id="{02E9EFC5-8507-000B-DFF9-326B122108D2}"/>
              </a:ext>
            </a:extLst>
          </p:cNvPr>
          <p:cNvSpPr txBox="1">
            <a:spLocks noChangeArrowheads="1"/>
          </p:cNvSpPr>
          <p:nvPr/>
        </p:nvSpPr>
        <p:spPr bwMode="auto">
          <a:xfrm>
            <a:off x="533400" y="819150"/>
            <a:ext cx="861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系统辨识的体会</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A0305DD5-2074-48C5-7777-40253EB65D77}"/>
              </a:ext>
            </a:extLst>
          </p:cNvPr>
          <p:cNvSpPr txBox="1"/>
          <p:nvPr/>
        </p:nvSpPr>
        <p:spPr>
          <a:xfrm>
            <a:off x="496529" y="1352550"/>
            <a:ext cx="784860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400" b="1">
                <a:latin typeface="Times New Roman" panose="02020603050405020304" pitchFamily="18" charset="0"/>
                <a:ea typeface="华文楷体" panose="02010600040101010101" pitchFamily="2" charset="-122"/>
                <a:cs typeface="Times New Roman" panose="02020603050405020304" pitchFamily="18" charset="0"/>
              </a:defRPr>
            </a:lvl1pPr>
          </a:lstStyle>
          <a:p>
            <a:pPr algn="l"/>
            <a:r>
              <a:rPr lang="zh-CN" altLang="en-US" sz="1800" dirty="0"/>
              <a:t>通过本次实验的系统辨识过程，可以更加深入地理解从输入输出数据中提取系统模型的基本原理。系统辨识不仅是一个数学拟合问题，更是一项综合工程，需要在数据采集、信号设计、预处理、模型选择及参数估计等多个环节协调配合。辨识结果的优劣在很大程度上取决于输入信号的设计质量与数据的可用性。此外，辨识过程中对模型结构的选择至关重要。若阶次过低，模型难以描述系统真实动态；若阶次过高，则可能造成过拟合，削弱模型的泛化能力。因此，合理的模型假设与验证方法是辨识可靠性的保障。通过此次实践，我体会到系统辨识不仅依赖算法工具，更考验工程判断力和对系统物理特性的理解。</a:t>
            </a:r>
          </a:p>
        </p:txBody>
      </p:sp>
    </p:spTree>
    <p:extLst>
      <p:ext uri="{BB962C8B-B14F-4D97-AF65-F5344CB8AC3E}">
        <p14:creationId xmlns:p14="http://schemas.microsoft.com/office/powerpoint/2010/main" val="3602430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7F05B-D41D-F671-8F44-AE444500FE51}"/>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1B266447-84B7-4D5D-E5A2-54C5AEEF7F2F}"/>
              </a:ext>
            </a:extLst>
          </p:cNvPr>
          <p:cNvSpPr txBox="1">
            <a:spLocks noChangeArrowheads="1"/>
          </p:cNvSpPr>
          <p:nvPr/>
        </p:nvSpPr>
        <p:spPr>
          <a:xfrm>
            <a:off x="609600" y="0"/>
            <a:ext cx="8534400" cy="590550"/>
          </a:xfrm>
          <a:prstGeom prst="rect">
            <a:avLst/>
          </a:prstGeom>
        </p:spPr>
        <p:txBody>
          <a:bodyPr/>
          <a:lstStyle/>
          <a:p>
            <a:pPr marL="0" lvl="1" eaLnBrk="1" fontAlgn="ctr" hangingPunct="1">
              <a:defRPr/>
            </a:pPr>
            <a:r>
              <a:rPr lang="en-US" altLang="zh-CN"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5.</a:t>
            </a:r>
            <a:r>
              <a:rPr lang="zh-CN" altLang="en-US" sz="2400" b="1" dirty="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总结</a:t>
            </a:r>
            <a:endParaRPr lang="zh-CN" altLang="en-US" sz="2400" b="1" kern="0" dirty="0">
              <a:solidFill>
                <a:srgbClr val="C00000"/>
              </a:solidFill>
              <a:latin typeface="+mj-lt"/>
              <a:ea typeface="+mj-ea"/>
              <a:cs typeface="+mj-cs"/>
            </a:endParaRPr>
          </a:p>
        </p:txBody>
      </p:sp>
      <p:sp>
        <p:nvSpPr>
          <p:cNvPr id="10243" name="Rectangle 3">
            <a:extLst>
              <a:ext uri="{FF2B5EF4-FFF2-40B4-BE49-F238E27FC236}">
                <a16:creationId xmlns:a16="http://schemas.microsoft.com/office/drawing/2014/main" id="{BCB8F627-F441-0115-EB74-691C43B59C7C}"/>
              </a:ext>
            </a:extLst>
          </p:cNvPr>
          <p:cNvSpPr txBox="1">
            <a:spLocks noChangeArrowheads="1"/>
          </p:cNvSpPr>
          <p:nvPr/>
        </p:nvSpPr>
        <p:spPr bwMode="auto">
          <a:xfrm>
            <a:off x="533400" y="819150"/>
            <a:ext cx="861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58775">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ctr" hangingPunct="1">
              <a:lnSpc>
                <a:spcPct val="110000"/>
              </a:lnSpc>
              <a:spcBef>
                <a:spcPts val="75"/>
              </a:spcBef>
              <a:spcAft>
                <a:spcPts val="225"/>
              </a:spcAft>
              <a:buClr>
                <a:srgbClr val="0000FF"/>
              </a:buClr>
              <a:buFont typeface="Wingdings" panose="05000000000000000000" pitchFamily="2" charset="2"/>
              <a:buChar char="p"/>
            </a:pPr>
            <a:r>
              <a:rPr lang="zh-CN" altLang="en-US"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rPr>
              <a:t>系统控制设计的体会</a:t>
            </a:r>
            <a:endParaRPr lang="en-US" altLang="zh-CN" b="1" dirty="0">
              <a:solidFill>
                <a:srgbClr val="0000FF"/>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fontAlgn="ctr" hangingPunct="1">
              <a:lnSpc>
                <a:spcPct val="110000"/>
              </a:lnSpc>
              <a:spcBef>
                <a:spcPts val="75"/>
              </a:spcBef>
              <a:spcAft>
                <a:spcPts val="225"/>
              </a:spcAft>
              <a:buClr>
                <a:srgbClr val="0000FF"/>
              </a:buClr>
              <a:buFont typeface="Wingdings" panose="05000000000000000000" pitchFamily="2" charset="2"/>
              <a:buChar char="p"/>
            </a:pPr>
            <a:endParaRPr kumimoji="1" lang="en-US" altLang="zh-CN" sz="1200" b="1" dirty="0">
              <a:latin typeface="楷体_GB2312" panose="02010609030101010101" pitchFamily="49" charset="-122"/>
              <a:ea typeface="楷体_GB2312" panose="0201060903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8E754B3C-FD93-3DC8-C31F-7F5AFF4EA7DB}"/>
              </a:ext>
            </a:extLst>
          </p:cNvPr>
          <p:cNvSpPr txBox="1"/>
          <p:nvPr/>
        </p:nvSpPr>
        <p:spPr>
          <a:xfrm>
            <a:off x="496529" y="1352550"/>
            <a:ext cx="78486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400" b="1">
                <a:latin typeface="Times New Roman" panose="02020603050405020304" pitchFamily="18" charset="0"/>
                <a:ea typeface="华文楷体" panose="02010600040101010101" pitchFamily="2" charset="-122"/>
                <a:cs typeface="Times New Roman" panose="02020603050405020304" pitchFamily="18" charset="0"/>
              </a:defRPr>
            </a:lvl1pPr>
          </a:lstStyle>
          <a:p>
            <a:pPr algn="l"/>
            <a:r>
              <a:rPr lang="zh-CN" altLang="en-US" sz="1800" dirty="0"/>
              <a:t>在控制设计阶段，我深刻体会到理论设计与实际实现之间存在显著差距。虽然在仿真中可以通过理想模型实现优良的动态性能，但在实际系统中，摩擦、时延、非线性及噪声等因素往往会导致控制效果下降。因此，设计控制器时不仅要追求快速响应和高精度，更要兼顾系统的稳定性与鲁棒性。通过极点配置与全状态反馈控制的设计实践，我认识到控制器参数的调整应基于系统极点分布的综合考虑。阻尼比和自然频率直接决定了响应特性，而状态反馈的引入则使控制更加灵活。仿真验证与实测对比让我理解了理论与实验之间的闭环关系：理论指导设计，实验反馈优化，二者相辅相成。整体而言，本次实验不仅加深了我对现代控制理论的理解，也增强了我在实际工程中综合运用辨识与控制思想的能力。</a:t>
            </a:r>
          </a:p>
        </p:txBody>
      </p:sp>
    </p:spTree>
    <p:extLst>
      <p:ext uri="{BB962C8B-B14F-4D97-AF65-F5344CB8AC3E}">
        <p14:creationId xmlns:p14="http://schemas.microsoft.com/office/powerpoint/2010/main" val="1461161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黑体"/>
        <a:ea typeface="黑体"/>
        <a:cs typeface="黑体"/>
      </a:majorFont>
      <a:minorFont>
        <a:latin typeface="黑体"/>
        <a:ea typeface="黑体"/>
        <a:cs typeface="黑体"/>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lumMod val="60000"/>
            <a:lumOff val="40000"/>
          </a:schemeClr>
        </a:solidFill>
        <a:ln>
          <a:noFill/>
        </a:ln>
      </a:spPr>
      <a:bodyPr lIns="30239" tIns="15120" rIns="30239" bIns="15120" rtlCol="0" anchor="ctr"/>
      <a:lstStyle>
        <a:defPPr algn="ctr">
          <a:defRPr sz="1200" dirty="0">
            <a:solidFill>
              <a:schemeClr val="tx1"/>
            </a:solidFill>
            <a:latin typeface="宋体" panose="02010600030101010101" pitchFamily="2" charset="-122"/>
            <a:ea typeface="宋体" panose="02010600030101010101" pitchFamily="2" charset="-122"/>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ea typeface="宋体" charset="0"/>
            <a:cs typeface="宋体"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Profile</Template>
  <TotalTime>389</TotalTime>
  <Words>2227</Words>
  <Application>Microsoft Office PowerPoint</Application>
  <PresentationFormat>全屏显示(16:9)</PresentationFormat>
  <Paragraphs>186</Paragraphs>
  <Slides>23</Slides>
  <Notes>4</Notes>
  <HiddenSlides>3</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23</vt:i4>
      </vt:variant>
    </vt:vector>
  </HeadingPairs>
  <TitlesOfParts>
    <vt:vector size="37" baseType="lpstr">
      <vt:lpstr>Arial Unicode MS</vt:lpstr>
      <vt:lpstr>黑体</vt:lpstr>
      <vt:lpstr>华文中宋</vt:lpstr>
      <vt:lpstr>楷体</vt:lpstr>
      <vt:lpstr>楷体_GB2312</vt:lpstr>
      <vt:lpstr>宋体</vt:lpstr>
      <vt:lpstr>Arial</vt:lpstr>
      <vt:lpstr>Arial Black</vt:lpstr>
      <vt:lpstr>Calibri</vt:lpstr>
      <vt:lpstr>Cambria Math</vt:lpstr>
      <vt:lpstr>Times New Roman</vt:lpstr>
      <vt:lpstr>Verdana</vt:lpstr>
      <vt:lpstr>Wingdings</vt:lpstr>
      <vt:lpstr>Profile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zhuxiaocong</dc:creator>
  <cp:lastModifiedBy>KAN LIU</cp:lastModifiedBy>
  <cp:revision>1327</cp:revision>
  <dcterms:created xsi:type="dcterms:W3CDTF">1601-01-01T00:00:00Z</dcterms:created>
  <dcterms:modified xsi:type="dcterms:W3CDTF">2025-11-04T04:25:46Z</dcterms:modified>
</cp:coreProperties>
</file>